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handoutMasterIdLst>
    <p:handoutMasterId r:id="rId3"/>
  </p:handoutMasterIdLst>
  <p:sldIdLst>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00FFFF"/>
    <a:srgbClr val="0000FF"/>
    <a:srgbClr val="0390D1"/>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2476" autoAdjust="0"/>
    <p:restoredTop sz="94635"/>
  </p:normalViewPr>
  <p:slideViewPr>
    <p:cSldViewPr showGuides="1" snapToGrid="0">
      <p:cViewPr varScale="1">
        <p:scale>
          <a:sx n="83" d="100"/>
          <a:sy n="83" d="100"/>
        </p:scale>
        <p:origin x="802" y="86"/>
      </p:cViewPr>
      <p:guideLst>
        <p:guide orient="horz" pos="2181"/>
        <p:guide pos="38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tableStyles" Target="tableStyle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67" name=""/>
        <p:cNvGrpSpPr/>
        <p:nvPr/>
      </p:nvGrpSpPr>
      <p:grpSpPr>
        <a:xfrm>
          <a:off x="0" y="0"/>
          <a:ext cx="0" cy="0"/>
          <a:chOff x="0" y="0"/>
          <a:chExt cx="0" cy="0"/>
        </a:xfrm>
      </p:grpSpPr>
      <p:sp>
        <p:nvSpPr>
          <p:cNvPr id="1048719"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IN"/>
          </a:p>
        </p:txBody>
      </p:sp>
      <p:sp>
        <p:nvSpPr>
          <p:cNvPr id="1048720" name="Date Placeholder 2"/>
          <p:cNvSpPr>
            <a:spLocks noGrp="1"/>
          </p:cNvSpPr>
          <p:nvPr>
            <p:ph type="dt" sz="quarter" idx="1"/>
          </p:nvPr>
        </p:nvSpPr>
        <p:spPr>
          <a:xfrm>
            <a:off x="3884613" y="0"/>
            <a:ext cx="2971800" cy="458788"/>
          </a:xfrm>
          <a:prstGeom prst="rect"/>
        </p:spPr>
        <p:txBody>
          <a:bodyPr bIns="45720" lIns="91440" rIns="91440" rtlCol="0" tIns="45720" vert="horz"/>
          <a:lstStyle>
            <a:lvl1pPr algn="r">
              <a:defRPr sz="1200"/>
            </a:lvl1pPr>
          </a:lstStyle>
          <a:p>
            <a:fld id="{F1F5D7F6-5397-41E8-A4FF-93605CEA9F45}" type="datetimeFigureOut">
              <a:rPr lang="en-IN" smtClean="0"/>
              <a:t>30-04-2026</a:t>
            </a:fld>
            <a:endParaRPr lang="en-IN"/>
          </a:p>
        </p:txBody>
      </p:sp>
      <p:sp>
        <p:nvSpPr>
          <p:cNvPr id="1048721" name="Footer Placeholder 3"/>
          <p:cNvSpPr>
            <a:spLocks noGrp="1"/>
          </p:cNvSpPr>
          <p:nvPr>
            <p:ph type="ftr" sz="quarter" idx="2"/>
          </p:nvPr>
        </p:nvSpPr>
        <p:spPr>
          <a:xfrm>
            <a:off x="0" y="8685213"/>
            <a:ext cx="2971800" cy="458787"/>
          </a:xfrm>
          <a:prstGeom prst="rect"/>
        </p:spPr>
        <p:txBody>
          <a:bodyPr anchor="b" bIns="45720" lIns="91440" rIns="91440" rtlCol="0" tIns="45720" vert="horz"/>
          <a:lstStyle>
            <a:lvl1pPr algn="l">
              <a:defRPr sz="1200"/>
            </a:lvl1pPr>
          </a:lstStyle>
          <a:p>
            <a:r>
              <a:rPr lang="en-US"/>
              <a:t>DAYANANDA SAGAR COLLEGE OF ENGINEERING</a:t>
            </a:r>
            <a:endParaRPr lang="en-IN"/>
          </a:p>
        </p:txBody>
      </p:sp>
      <p:sp>
        <p:nvSpPr>
          <p:cNvPr id="1048722" name="Slide Number Placeholder 4"/>
          <p:cNvSpPr>
            <a:spLocks noGrp="1"/>
          </p:cNvSpPr>
          <p:nvPr>
            <p:ph type="sldNum" sz="quarter" idx="3"/>
          </p:nvPr>
        </p:nvSpPr>
        <p:spPr>
          <a:xfrm>
            <a:off x="3884613" y="8685213"/>
            <a:ext cx="2971800" cy="458787"/>
          </a:xfrm>
          <a:prstGeom prst="rect"/>
        </p:spPr>
        <p:txBody>
          <a:bodyPr anchor="b" bIns="45720" lIns="91440" rIns="91440" rtlCol="0" tIns="45720" vert="horz"/>
          <a:lstStyle>
            <a:lvl1pPr algn="r">
              <a:defRPr sz="1200"/>
            </a:lvl1pPr>
          </a:lstStyle>
          <a:p>
            <a:fld id="{EE4E92D3-DB92-42DC-8BB6-8A892AE8BD63}" type="slidenum">
              <a:rPr lang="en-IN" smtClean="0"/>
              <a:t>‹#›</a:t>
            </a:fld>
            <a:endParaRPr lang="en-IN"/>
          </a:p>
        </p:txBody>
      </p:sp>
    </p:spTree>
  </p:cSld>
  <p:clrMap accent1="accent1" accent2="accent2" accent3="accent3" accent4="accent4" accent5="accent5" accent6="accent6" bg1="lt1" bg2="lt2" tx1="dk1" tx2="dk2" hlink="hlink" folHlink="folHlink"/>
  <p:hf dt="0" ftr="0" hdr="0" sldNum="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66" name=""/>
        <p:cNvGrpSpPr/>
        <p:nvPr/>
      </p:nvGrpSpPr>
      <p:grpSpPr>
        <a:xfrm>
          <a:off x="0" y="0"/>
          <a:ext cx="0" cy="0"/>
          <a:chOff x="0" y="0"/>
          <a:chExt cx="0" cy="0"/>
        </a:xfrm>
      </p:grpSpPr>
      <p:sp>
        <p:nvSpPr>
          <p:cNvPr id="1048713"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IN"/>
          </a:p>
        </p:txBody>
      </p:sp>
      <p:sp>
        <p:nvSpPr>
          <p:cNvPr id="1048714"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69994FA3-493A-4D0B-881F-371314366628}" type="datetimeFigureOut">
              <a:rPr lang="en-IN" smtClean="0"/>
              <a:t>30-04-2026</a:t>
            </a:fld>
            <a:endParaRPr lang="en-IN"/>
          </a:p>
        </p:txBody>
      </p:sp>
      <p:sp>
        <p:nvSpPr>
          <p:cNvPr id="1048715"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IN"/>
          </a:p>
        </p:txBody>
      </p:sp>
      <p:sp>
        <p:nvSpPr>
          <p:cNvPr id="1048716"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17"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r>
              <a:rPr lang="en-US"/>
              <a:t>DAYANANDA SAGAR COLLEGE OF ENGINEERING</a:t>
            </a:r>
            <a:endParaRPr lang="en-IN"/>
          </a:p>
        </p:txBody>
      </p:sp>
      <p:sp>
        <p:nvSpPr>
          <p:cNvPr id="1048718"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B8E3B792-012D-4E00-B763-2BFBCB2B7E09}" type="slidenum">
              <a:rPr lang="en-IN" smtClean="0"/>
              <a:t>‹#›</a:t>
            </a:fld>
            <a:endParaRPr lang="en-IN"/>
          </a:p>
        </p:txBody>
      </p:sp>
    </p:spTree>
  </p:cSld>
  <p:clrMap accent1="accent1" accent2="accent2" accent3="accent3" accent4="accent4" accent5="accent5" accent6="accent6" bg1="lt1" bg2="lt2" tx1="dk1" tx2="dk2" hlink="hlink" folHlink="folHlink"/>
  <p:hf dt="0" ftr="0" hdr="0" sldNum="0"/>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591" name="Slide Image Placeholder 1"/>
          <p:cNvSpPr>
            <a:spLocks noChangeAspect="1" noRot="1" noGrp="1"/>
          </p:cNvSpPr>
          <p:nvPr>
            <p:ph type="sldImg"/>
          </p:nvPr>
        </p:nvSpPr>
        <p:spPr/>
        <p:txBody>
          <a:bodyPr/>
          <a:p>
            <a:endParaRPr lang="en-IN"/>
          </a:p>
        </p:txBody>
      </p:sp>
      <p:sp>
        <p:nvSpPr>
          <p:cNvPr id="1048592" name="Notes Placeholder 2"/>
          <p:cNvSpPr>
            <a:spLocks noGrp="1"/>
          </p:cNvSpPr>
          <p:nvPr>
            <p:ph type="body" idx="1"/>
          </p:nvPr>
        </p:nvSpPr>
        <p:spPr/>
        <p:txBody>
          <a:bodyPr/>
          <a:p>
            <a:endParaRPr dirty="0"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5"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lang="en-IN"/>
          </a:p>
        </p:txBody>
      </p:sp>
      <p:sp>
        <p:nvSpPr>
          <p:cNvPr id="1048583" name="Date Placeholder 3"/>
          <p:cNvSpPr>
            <a:spLocks noGrp="1"/>
          </p:cNvSpPr>
          <p:nvPr>
            <p:ph type="dt" sz="half" idx="10"/>
          </p:nvPr>
        </p:nvSpPr>
        <p:spPr/>
        <p:txBody>
          <a:bodyPr/>
          <a:p>
            <a:fld id="{3552EAED-823F-4ED8-8FCF-96AF6D568A21}" type="datetime1">
              <a:rPr lang="en-IN" smtClean="0"/>
              <a:t>30-04-2026</a:t>
            </a:fld>
            <a:endParaRPr lang="en-IN"/>
          </a:p>
        </p:txBody>
      </p:sp>
      <p:sp>
        <p:nvSpPr>
          <p:cNvPr id="1048584" name="Footer Placeholder 4"/>
          <p:cNvSpPr>
            <a:spLocks noGrp="1"/>
          </p:cNvSpPr>
          <p:nvPr>
            <p:ph type="ftr" sz="quarter" idx="11"/>
          </p:nvPr>
        </p:nvSpPr>
        <p:spPr/>
        <p:txBody>
          <a:bodyPr/>
          <a:p>
            <a:r>
              <a:rPr lang="en-US"/>
              <a:t>DAYANANDA SAGAR COLLEGE OF ENGINEERING</a:t>
            </a:r>
            <a:endParaRPr lang="en-IN"/>
          </a:p>
        </p:txBody>
      </p:sp>
      <p:sp>
        <p:nvSpPr>
          <p:cNvPr id="1048585" name="Slide Number Placeholder 5"/>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59" name=""/>
        <p:cNvGrpSpPr/>
        <p:nvPr/>
      </p:nvGrpSpPr>
      <p:grpSpPr>
        <a:xfrm>
          <a:off x="0" y="0"/>
          <a:ext cx="0" cy="0"/>
          <a:chOff x="0" y="0"/>
          <a:chExt cx="0" cy="0"/>
        </a:xfrm>
      </p:grpSpPr>
      <p:sp>
        <p:nvSpPr>
          <p:cNvPr id="1048672" name="Title 1"/>
          <p:cNvSpPr>
            <a:spLocks noGrp="1"/>
          </p:cNvSpPr>
          <p:nvPr>
            <p:ph type="title"/>
          </p:nvPr>
        </p:nvSpPr>
        <p:spPr/>
        <p:txBody>
          <a:bodyPr/>
          <a:p>
            <a:r>
              <a:rPr lang="en-US"/>
              <a:t>Click to edit Master title style</a:t>
            </a:r>
            <a:endParaRPr lang="en-IN"/>
          </a:p>
        </p:txBody>
      </p:sp>
      <p:sp>
        <p:nvSpPr>
          <p:cNvPr id="1048673" name="Content Placeholder 2"/>
          <p:cNvSpPr>
            <a:spLocks noGrp="1"/>
          </p:cNvSpPr>
          <p:nvPr>
            <p:ph idx="1"/>
          </p:nvPr>
        </p:nvSpPr>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4" name="Date Placeholder 3"/>
          <p:cNvSpPr>
            <a:spLocks noGrp="1"/>
          </p:cNvSpPr>
          <p:nvPr>
            <p:ph type="dt" sz="half" idx="10"/>
          </p:nvPr>
        </p:nvSpPr>
        <p:spPr/>
        <p:txBody>
          <a:bodyPr/>
          <a:p>
            <a:fld id="{24FF30D3-4678-4617-8E5A-5F1AF2BE60A6}" type="datetime1">
              <a:rPr lang="en-IN" smtClean="0"/>
              <a:t>30-04-2026</a:t>
            </a:fld>
            <a:endParaRPr lang="en-IN"/>
          </a:p>
        </p:txBody>
      </p:sp>
      <p:sp>
        <p:nvSpPr>
          <p:cNvPr id="1048675" name="Footer Placeholder 4"/>
          <p:cNvSpPr>
            <a:spLocks noGrp="1"/>
          </p:cNvSpPr>
          <p:nvPr>
            <p:ph type="ftr" sz="quarter" idx="11"/>
          </p:nvPr>
        </p:nvSpPr>
        <p:spPr/>
        <p:txBody>
          <a:bodyPr/>
          <a:p>
            <a:r>
              <a:rPr lang="en-US"/>
              <a:t>DAYANANDA SAGAR COLLEGE OF ENGINEERING</a:t>
            </a:r>
            <a:endParaRPr lang="en-IN"/>
          </a:p>
        </p:txBody>
      </p:sp>
      <p:sp>
        <p:nvSpPr>
          <p:cNvPr id="1048676" name="Slide Number Placeholder 5"/>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62" name=""/>
        <p:cNvGrpSpPr/>
        <p:nvPr/>
      </p:nvGrpSpPr>
      <p:grpSpPr>
        <a:xfrm>
          <a:off x="0" y="0"/>
          <a:ext cx="0" cy="0"/>
          <a:chOff x="0" y="0"/>
          <a:chExt cx="0" cy="0"/>
        </a:xfrm>
      </p:grpSpPr>
      <p:sp>
        <p:nvSpPr>
          <p:cNvPr id="1048688"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89"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Edit Master text styles</a:t>
            </a:r>
          </a:p>
        </p:txBody>
      </p:sp>
      <p:sp>
        <p:nvSpPr>
          <p:cNvPr id="1048690" name="Date Placeholder 3"/>
          <p:cNvSpPr>
            <a:spLocks noGrp="1"/>
          </p:cNvSpPr>
          <p:nvPr>
            <p:ph type="dt" sz="half" idx="10"/>
          </p:nvPr>
        </p:nvSpPr>
        <p:spPr/>
        <p:txBody>
          <a:bodyPr/>
          <a:p>
            <a:fld id="{5E97A602-C926-4D0A-B346-C60C10B8D681}" type="datetime1">
              <a:rPr lang="en-IN" smtClean="0"/>
              <a:t>30-04-2026</a:t>
            </a:fld>
            <a:endParaRPr lang="en-IN"/>
          </a:p>
        </p:txBody>
      </p:sp>
      <p:sp>
        <p:nvSpPr>
          <p:cNvPr id="1048691" name="Footer Placeholder 4"/>
          <p:cNvSpPr>
            <a:spLocks noGrp="1"/>
          </p:cNvSpPr>
          <p:nvPr>
            <p:ph type="ftr" sz="quarter" idx="11"/>
          </p:nvPr>
        </p:nvSpPr>
        <p:spPr/>
        <p:txBody>
          <a:bodyPr/>
          <a:p>
            <a:r>
              <a:rPr lang="en-US"/>
              <a:t>DAYANANDA SAGAR COLLEGE OF ENGINEERING</a:t>
            </a:r>
            <a:endParaRPr lang="en-IN"/>
          </a:p>
        </p:txBody>
      </p:sp>
      <p:sp>
        <p:nvSpPr>
          <p:cNvPr id="1048692" name="Slide Number Placeholder 5"/>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63" name=""/>
        <p:cNvGrpSpPr/>
        <p:nvPr/>
      </p:nvGrpSpPr>
      <p:grpSpPr>
        <a:xfrm>
          <a:off x="0" y="0"/>
          <a:ext cx="0" cy="0"/>
          <a:chOff x="0" y="0"/>
          <a:chExt cx="0" cy="0"/>
        </a:xfrm>
      </p:grpSpPr>
      <p:sp>
        <p:nvSpPr>
          <p:cNvPr id="1048693" name="Title 1"/>
          <p:cNvSpPr>
            <a:spLocks noGrp="1"/>
          </p:cNvSpPr>
          <p:nvPr>
            <p:ph type="title"/>
          </p:nvPr>
        </p:nvSpPr>
        <p:spPr/>
        <p:txBody>
          <a:bodyPr/>
          <a:p>
            <a:r>
              <a:rPr lang="en-US"/>
              <a:t>Click to edit Master title style</a:t>
            </a:r>
            <a:endParaRPr lang="en-IN"/>
          </a:p>
        </p:txBody>
      </p:sp>
      <p:sp>
        <p:nvSpPr>
          <p:cNvPr id="1048694" name="Content Placeholder 2"/>
          <p:cNvSpPr>
            <a:spLocks noGrp="1"/>
          </p:cNvSpPr>
          <p:nvPr>
            <p:ph sz="half" idx="1"/>
          </p:nvPr>
        </p:nvSpPr>
        <p:spPr>
          <a:xfrm>
            <a:off x="838200" y="1825625"/>
            <a:ext cx="5181600" cy="435133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5" name="Content Placeholder 3"/>
          <p:cNvSpPr>
            <a:spLocks noGrp="1"/>
          </p:cNvSpPr>
          <p:nvPr>
            <p:ph sz="half" idx="2"/>
          </p:nvPr>
        </p:nvSpPr>
        <p:spPr>
          <a:xfrm>
            <a:off x="6172200" y="1825625"/>
            <a:ext cx="5181600" cy="435133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6" name="Date Placeholder 4"/>
          <p:cNvSpPr>
            <a:spLocks noGrp="1"/>
          </p:cNvSpPr>
          <p:nvPr>
            <p:ph type="dt" sz="half" idx="10"/>
          </p:nvPr>
        </p:nvSpPr>
        <p:spPr/>
        <p:txBody>
          <a:bodyPr/>
          <a:p>
            <a:fld id="{4E0FABCA-F942-4267-9EBE-46EF6D58449B}" type="datetime1">
              <a:rPr lang="en-IN" smtClean="0"/>
              <a:t>30-04-2026</a:t>
            </a:fld>
            <a:endParaRPr lang="en-IN"/>
          </a:p>
        </p:txBody>
      </p:sp>
      <p:sp>
        <p:nvSpPr>
          <p:cNvPr id="1048697" name="Footer Placeholder 5"/>
          <p:cNvSpPr>
            <a:spLocks noGrp="1"/>
          </p:cNvSpPr>
          <p:nvPr>
            <p:ph type="ftr" sz="quarter" idx="11"/>
          </p:nvPr>
        </p:nvSpPr>
        <p:spPr/>
        <p:txBody>
          <a:bodyPr/>
          <a:p>
            <a:r>
              <a:rPr lang="en-US"/>
              <a:t>DAYANANDA SAGAR COLLEGE OF ENGINEERING</a:t>
            </a:r>
            <a:endParaRPr lang="en-IN"/>
          </a:p>
        </p:txBody>
      </p:sp>
      <p:sp>
        <p:nvSpPr>
          <p:cNvPr id="1048698" name="Slide Number Placeholder 6"/>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64" name=""/>
        <p:cNvGrpSpPr/>
        <p:nvPr/>
      </p:nvGrpSpPr>
      <p:grpSpPr>
        <a:xfrm>
          <a:off x="0" y="0"/>
          <a:ext cx="0" cy="0"/>
          <a:chOff x="0" y="0"/>
          <a:chExt cx="0" cy="0"/>
        </a:xfrm>
      </p:grpSpPr>
      <p:sp>
        <p:nvSpPr>
          <p:cNvPr id="1048699" name="Title 1"/>
          <p:cNvSpPr>
            <a:spLocks noGrp="1"/>
          </p:cNvSpPr>
          <p:nvPr>
            <p:ph type="title"/>
          </p:nvPr>
        </p:nvSpPr>
        <p:spPr>
          <a:xfrm>
            <a:off x="839788" y="365125"/>
            <a:ext cx="10515600" cy="1325563"/>
          </a:xfrm>
        </p:spPr>
        <p:txBody>
          <a:bodyPr/>
          <a:p>
            <a:r>
              <a:rPr lang="en-US"/>
              <a:t>Click to edit Master title style</a:t>
            </a:r>
            <a:endParaRPr lang="en-IN"/>
          </a:p>
        </p:txBody>
      </p:sp>
      <p:sp>
        <p:nvSpPr>
          <p:cNvPr id="1048700"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Edit Master text styles</a:t>
            </a:r>
          </a:p>
        </p:txBody>
      </p:sp>
      <p:sp>
        <p:nvSpPr>
          <p:cNvPr id="1048701" name="Content Placeholder 3"/>
          <p:cNvSpPr>
            <a:spLocks noGrp="1"/>
          </p:cNvSpPr>
          <p:nvPr>
            <p:ph sz="half" idx="2"/>
          </p:nvPr>
        </p:nvSpPr>
        <p:spPr>
          <a:xfrm>
            <a:off x="839788" y="2505075"/>
            <a:ext cx="5157787" cy="368458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2"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Edit Master text styles</a:t>
            </a:r>
          </a:p>
        </p:txBody>
      </p:sp>
      <p:sp>
        <p:nvSpPr>
          <p:cNvPr id="1048703" name="Content Placeholder 5"/>
          <p:cNvSpPr>
            <a:spLocks noGrp="1"/>
          </p:cNvSpPr>
          <p:nvPr>
            <p:ph sz="quarter" idx="4"/>
          </p:nvPr>
        </p:nvSpPr>
        <p:spPr>
          <a:xfrm>
            <a:off x="6172200" y="2505075"/>
            <a:ext cx="5183188" cy="368458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4" name="Date Placeholder 6"/>
          <p:cNvSpPr>
            <a:spLocks noGrp="1"/>
          </p:cNvSpPr>
          <p:nvPr>
            <p:ph type="dt" sz="half" idx="10"/>
          </p:nvPr>
        </p:nvSpPr>
        <p:spPr/>
        <p:txBody>
          <a:bodyPr/>
          <a:p>
            <a:fld id="{091D9C33-582C-4E20-8FB2-544DFAB8726C}" type="datetime1">
              <a:rPr lang="en-IN" smtClean="0"/>
              <a:t>30-04-2026</a:t>
            </a:fld>
            <a:endParaRPr lang="en-IN"/>
          </a:p>
        </p:txBody>
      </p:sp>
      <p:sp>
        <p:nvSpPr>
          <p:cNvPr id="1048705" name="Footer Placeholder 7"/>
          <p:cNvSpPr>
            <a:spLocks noGrp="1"/>
          </p:cNvSpPr>
          <p:nvPr>
            <p:ph type="ftr" sz="quarter" idx="11"/>
          </p:nvPr>
        </p:nvSpPr>
        <p:spPr/>
        <p:txBody>
          <a:bodyPr/>
          <a:p>
            <a:r>
              <a:rPr lang="en-US"/>
              <a:t>DAYANANDA SAGAR COLLEGE OF ENGINEERING</a:t>
            </a:r>
            <a:endParaRPr lang="en-IN"/>
          </a:p>
        </p:txBody>
      </p:sp>
      <p:sp>
        <p:nvSpPr>
          <p:cNvPr id="1048706" name="Slide Number Placeholder 8"/>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7" name=""/>
        <p:cNvGrpSpPr/>
        <p:nvPr/>
      </p:nvGrpSpPr>
      <p:grpSpPr>
        <a:xfrm>
          <a:off x="0" y="0"/>
          <a:ext cx="0" cy="0"/>
          <a:chOff x="0" y="0"/>
          <a:chExt cx="0" cy="0"/>
        </a:xfrm>
      </p:grpSpPr>
      <p:sp>
        <p:nvSpPr>
          <p:cNvPr id="1048663" name="Title 1"/>
          <p:cNvSpPr>
            <a:spLocks noGrp="1"/>
          </p:cNvSpPr>
          <p:nvPr>
            <p:ph type="title"/>
          </p:nvPr>
        </p:nvSpPr>
        <p:spPr/>
        <p:txBody>
          <a:bodyPr/>
          <a:p>
            <a:r>
              <a:rPr lang="en-US"/>
              <a:t>Click to edit Master title style</a:t>
            </a:r>
            <a:endParaRPr lang="en-IN"/>
          </a:p>
        </p:txBody>
      </p:sp>
      <p:sp>
        <p:nvSpPr>
          <p:cNvPr id="1048664" name="Date Placeholder 2"/>
          <p:cNvSpPr>
            <a:spLocks noGrp="1"/>
          </p:cNvSpPr>
          <p:nvPr>
            <p:ph type="dt" sz="half" idx="10"/>
          </p:nvPr>
        </p:nvSpPr>
        <p:spPr/>
        <p:txBody>
          <a:bodyPr/>
          <a:p>
            <a:fld id="{A89DB5FC-FE9C-4CF6-B017-4543AEB2EAE5}" type="datetime1">
              <a:rPr lang="en-IN" smtClean="0"/>
              <a:t>30-04-2026</a:t>
            </a:fld>
            <a:endParaRPr lang="en-IN"/>
          </a:p>
        </p:txBody>
      </p:sp>
      <p:sp>
        <p:nvSpPr>
          <p:cNvPr id="1048665" name="Footer Placeholder 3"/>
          <p:cNvSpPr>
            <a:spLocks noGrp="1"/>
          </p:cNvSpPr>
          <p:nvPr>
            <p:ph type="ftr" sz="quarter" idx="11"/>
          </p:nvPr>
        </p:nvSpPr>
        <p:spPr/>
        <p:txBody>
          <a:bodyPr/>
          <a:p>
            <a:r>
              <a:rPr lang="en-US"/>
              <a:t>DAYANANDA SAGAR COLLEGE OF ENGINEERING</a:t>
            </a:r>
            <a:endParaRPr lang="en-IN"/>
          </a:p>
        </p:txBody>
      </p:sp>
      <p:sp>
        <p:nvSpPr>
          <p:cNvPr id="1048666" name="Slide Number Placeholder 4"/>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44" name=""/>
        <p:cNvGrpSpPr/>
        <p:nvPr/>
      </p:nvGrpSpPr>
      <p:grpSpPr>
        <a:xfrm>
          <a:off x="0" y="0"/>
          <a:ext cx="0" cy="0"/>
          <a:chOff x="0" y="0"/>
          <a:chExt cx="0" cy="0"/>
        </a:xfrm>
      </p:grpSpPr>
      <p:sp>
        <p:nvSpPr>
          <p:cNvPr id="1048616" name="Date Placeholder 1"/>
          <p:cNvSpPr>
            <a:spLocks noGrp="1"/>
          </p:cNvSpPr>
          <p:nvPr>
            <p:ph type="dt" sz="half" idx="10"/>
          </p:nvPr>
        </p:nvSpPr>
        <p:spPr/>
        <p:txBody>
          <a:bodyPr/>
          <a:p>
            <a:fld id="{360E7F11-254D-4A57-ADD8-9937DF51DC42}" type="datetime1">
              <a:rPr lang="en-IN" smtClean="0"/>
              <a:t>30-04-2026</a:t>
            </a:fld>
            <a:endParaRPr lang="en-IN"/>
          </a:p>
        </p:txBody>
      </p:sp>
      <p:sp>
        <p:nvSpPr>
          <p:cNvPr id="1048617" name="Footer Placeholder 2"/>
          <p:cNvSpPr>
            <a:spLocks noGrp="1"/>
          </p:cNvSpPr>
          <p:nvPr>
            <p:ph type="ftr" sz="quarter" idx="11"/>
          </p:nvPr>
        </p:nvSpPr>
        <p:spPr/>
        <p:txBody>
          <a:bodyPr/>
          <a:p>
            <a:r>
              <a:rPr lang="en-US"/>
              <a:t>DAYANANDA SAGAR COLLEGE OF ENGINEERING</a:t>
            </a:r>
            <a:endParaRPr lang="en-IN"/>
          </a:p>
        </p:txBody>
      </p:sp>
      <p:sp>
        <p:nvSpPr>
          <p:cNvPr id="1048618" name="Slide Number Placeholder 3"/>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65" name=""/>
        <p:cNvGrpSpPr/>
        <p:nvPr/>
      </p:nvGrpSpPr>
      <p:grpSpPr>
        <a:xfrm>
          <a:off x="0" y="0"/>
          <a:ext cx="0" cy="0"/>
          <a:chOff x="0" y="0"/>
          <a:chExt cx="0" cy="0"/>
        </a:xfrm>
      </p:grpSpPr>
      <p:sp>
        <p:nvSpPr>
          <p:cNvPr id="1048707"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708"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9"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Edit Master text styles</a:t>
            </a:r>
          </a:p>
        </p:txBody>
      </p:sp>
      <p:sp>
        <p:nvSpPr>
          <p:cNvPr id="1048710" name="Date Placeholder 4"/>
          <p:cNvSpPr>
            <a:spLocks noGrp="1"/>
          </p:cNvSpPr>
          <p:nvPr>
            <p:ph type="dt" sz="half" idx="10"/>
          </p:nvPr>
        </p:nvSpPr>
        <p:spPr/>
        <p:txBody>
          <a:bodyPr/>
          <a:p>
            <a:fld id="{8614D4E9-A179-47A8-B1EF-6C74DC395626}" type="datetime1">
              <a:rPr lang="en-IN" smtClean="0"/>
              <a:t>30-04-2026</a:t>
            </a:fld>
            <a:endParaRPr lang="en-IN"/>
          </a:p>
        </p:txBody>
      </p:sp>
      <p:sp>
        <p:nvSpPr>
          <p:cNvPr id="1048711" name="Footer Placeholder 5"/>
          <p:cNvSpPr>
            <a:spLocks noGrp="1"/>
          </p:cNvSpPr>
          <p:nvPr>
            <p:ph type="ftr" sz="quarter" idx="11"/>
          </p:nvPr>
        </p:nvSpPr>
        <p:spPr/>
        <p:txBody>
          <a:bodyPr/>
          <a:p>
            <a:r>
              <a:rPr lang="en-US"/>
              <a:t>DAYANANDA SAGAR COLLEGE OF ENGINEERING</a:t>
            </a:r>
            <a:endParaRPr lang="en-IN"/>
          </a:p>
        </p:txBody>
      </p:sp>
      <p:sp>
        <p:nvSpPr>
          <p:cNvPr id="1048712" name="Slide Number Placeholder 6"/>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60" name=""/>
        <p:cNvGrpSpPr/>
        <p:nvPr/>
      </p:nvGrpSpPr>
      <p:grpSpPr>
        <a:xfrm>
          <a:off x="0" y="0"/>
          <a:ext cx="0" cy="0"/>
          <a:chOff x="0" y="0"/>
          <a:chExt cx="0" cy="0"/>
        </a:xfrm>
      </p:grpSpPr>
      <p:sp>
        <p:nvSpPr>
          <p:cNvPr id="1048677"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78"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IN"/>
          </a:p>
        </p:txBody>
      </p:sp>
      <p:sp>
        <p:nvSpPr>
          <p:cNvPr id="1048679"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Edit Master text styles</a:t>
            </a:r>
          </a:p>
        </p:txBody>
      </p:sp>
      <p:sp>
        <p:nvSpPr>
          <p:cNvPr id="1048680" name="Date Placeholder 4"/>
          <p:cNvSpPr>
            <a:spLocks noGrp="1"/>
          </p:cNvSpPr>
          <p:nvPr>
            <p:ph type="dt" sz="half" idx="10"/>
          </p:nvPr>
        </p:nvSpPr>
        <p:spPr/>
        <p:txBody>
          <a:bodyPr/>
          <a:p>
            <a:fld id="{634BEAC2-5A7C-4632-951E-E6E0AAC4BDA4}" type="datetime1">
              <a:rPr lang="en-IN" smtClean="0"/>
              <a:t>30-04-2026</a:t>
            </a:fld>
            <a:endParaRPr lang="en-IN"/>
          </a:p>
        </p:txBody>
      </p:sp>
      <p:sp>
        <p:nvSpPr>
          <p:cNvPr id="1048681" name="Footer Placeholder 5"/>
          <p:cNvSpPr>
            <a:spLocks noGrp="1"/>
          </p:cNvSpPr>
          <p:nvPr>
            <p:ph type="ftr" sz="quarter" idx="11"/>
          </p:nvPr>
        </p:nvSpPr>
        <p:spPr/>
        <p:txBody>
          <a:bodyPr/>
          <a:p>
            <a:r>
              <a:rPr lang="en-US"/>
              <a:t>DAYANANDA SAGAR COLLEGE OF ENGINEERING</a:t>
            </a:r>
            <a:endParaRPr lang="en-IN"/>
          </a:p>
        </p:txBody>
      </p:sp>
      <p:sp>
        <p:nvSpPr>
          <p:cNvPr id="1048682" name="Slide Number Placeholder 6"/>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1" name=""/>
        <p:cNvGrpSpPr/>
        <p:nvPr/>
      </p:nvGrpSpPr>
      <p:grpSpPr>
        <a:xfrm>
          <a:off x="0" y="0"/>
          <a:ext cx="0" cy="0"/>
          <a:chOff x="0" y="0"/>
          <a:chExt cx="0" cy="0"/>
        </a:xfrm>
      </p:grpSpPr>
      <p:sp>
        <p:nvSpPr>
          <p:cNvPr id="1048683" name="Title 1"/>
          <p:cNvSpPr>
            <a:spLocks noGrp="1"/>
          </p:cNvSpPr>
          <p:nvPr>
            <p:ph type="title"/>
          </p:nvPr>
        </p:nvSpPr>
        <p:spPr/>
        <p:txBody>
          <a:bodyPr/>
          <a:p>
            <a:r>
              <a:rPr lang="en-US"/>
              <a:t>Click to edit Master title style</a:t>
            </a:r>
            <a:endParaRPr lang="en-IN"/>
          </a:p>
        </p:txBody>
      </p:sp>
      <p:sp>
        <p:nvSpPr>
          <p:cNvPr id="1048684" name="Vertical Text Placeholder 2"/>
          <p:cNvSpPr>
            <a:spLocks noGrp="1"/>
          </p:cNvSpPr>
          <p:nvPr>
            <p:ph type="body" orient="vert" idx="1"/>
          </p:nvPr>
        </p:nvSpPr>
        <p:spPr/>
        <p:txBody>
          <a:bodyPr vert="eaVert"/>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5" name="Date Placeholder 3"/>
          <p:cNvSpPr>
            <a:spLocks noGrp="1"/>
          </p:cNvSpPr>
          <p:nvPr>
            <p:ph type="dt" sz="half" idx="10"/>
          </p:nvPr>
        </p:nvSpPr>
        <p:spPr/>
        <p:txBody>
          <a:bodyPr/>
          <a:p>
            <a:fld id="{74E1C159-43C5-4E18-BEAE-0B9D8CEC796B}" type="datetime1">
              <a:rPr lang="en-IN" smtClean="0"/>
              <a:t>30-04-2026</a:t>
            </a:fld>
            <a:endParaRPr lang="en-IN"/>
          </a:p>
        </p:txBody>
      </p:sp>
      <p:sp>
        <p:nvSpPr>
          <p:cNvPr id="1048686" name="Footer Placeholder 4"/>
          <p:cNvSpPr>
            <a:spLocks noGrp="1"/>
          </p:cNvSpPr>
          <p:nvPr>
            <p:ph type="ftr" sz="quarter" idx="11"/>
          </p:nvPr>
        </p:nvSpPr>
        <p:spPr/>
        <p:txBody>
          <a:bodyPr/>
          <a:p>
            <a:r>
              <a:rPr lang="en-US"/>
              <a:t>DAYANANDA SAGAR COLLEGE OF ENGINEERING</a:t>
            </a:r>
            <a:endParaRPr lang="en-IN"/>
          </a:p>
        </p:txBody>
      </p:sp>
      <p:sp>
        <p:nvSpPr>
          <p:cNvPr id="1048687" name="Slide Number Placeholder 5"/>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58" name=""/>
        <p:cNvGrpSpPr/>
        <p:nvPr/>
      </p:nvGrpSpPr>
      <p:grpSpPr>
        <a:xfrm>
          <a:off x="0" y="0"/>
          <a:ext cx="0" cy="0"/>
          <a:chOff x="0" y="0"/>
          <a:chExt cx="0" cy="0"/>
        </a:xfrm>
      </p:grpSpPr>
      <p:sp>
        <p:nvSpPr>
          <p:cNvPr id="1048667" name="Vertical Title 1"/>
          <p:cNvSpPr>
            <a:spLocks noGrp="1"/>
          </p:cNvSpPr>
          <p:nvPr>
            <p:ph type="title" orient="vert"/>
          </p:nvPr>
        </p:nvSpPr>
        <p:spPr>
          <a:xfrm>
            <a:off x="8724900" y="365125"/>
            <a:ext cx="2628900" cy="5811838"/>
          </a:xfrm>
        </p:spPr>
        <p:txBody>
          <a:bodyPr vert="eaVert"/>
          <a:p>
            <a:r>
              <a:rPr lang="en-US"/>
              <a:t>Click to edit Master title style</a:t>
            </a:r>
            <a:endParaRPr lang="en-IN"/>
          </a:p>
        </p:txBody>
      </p:sp>
      <p:sp>
        <p:nvSpPr>
          <p:cNvPr id="1048668" name="Vertical Text Placeholder 2"/>
          <p:cNvSpPr>
            <a:spLocks noGrp="1"/>
          </p:cNvSpPr>
          <p:nvPr>
            <p:ph type="body" orient="vert" idx="1"/>
          </p:nvPr>
        </p:nvSpPr>
        <p:spPr>
          <a:xfrm>
            <a:off x="838200" y="365125"/>
            <a:ext cx="7734300" cy="5811838"/>
          </a:xfrm>
        </p:spPr>
        <p:txBody>
          <a:bodyPr vert="eaVert"/>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9" name="Date Placeholder 3"/>
          <p:cNvSpPr>
            <a:spLocks noGrp="1"/>
          </p:cNvSpPr>
          <p:nvPr>
            <p:ph type="dt" sz="half" idx="10"/>
          </p:nvPr>
        </p:nvSpPr>
        <p:spPr/>
        <p:txBody>
          <a:bodyPr/>
          <a:p>
            <a:fld id="{FBABD9A3-C35A-4A40-82EE-FDDACBF254AC}" type="datetime1">
              <a:rPr lang="en-IN" smtClean="0"/>
              <a:t>30-04-2026</a:t>
            </a:fld>
            <a:endParaRPr lang="en-IN"/>
          </a:p>
        </p:txBody>
      </p:sp>
      <p:sp>
        <p:nvSpPr>
          <p:cNvPr id="1048670" name="Footer Placeholder 4"/>
          <p:cNvSpPr>
            <a:spLocks noGrp="1"/>
          </p:cNvSpPr>
          <p:nvPr>
            <p:ph type="ftr" sz="quarter" idx="11"/>
          </p:nvPr>
        </p:nvSpPr>
        <p:spPr/>
        <p:txBody>
          <a:bodyPr/>
          <a:p>
            <a:r>
              <a:rPr lang="en-US"/>
              <a:t>DAYANANDA SAGAR COLLEGE OF ENGINEERING</a:t>
            </a:r>
            <a:endParaRPr lang="en-IN"/>
          </a:p>
        </p:txBody>
      </p:sp>
      <p:sp>
        <p:nvSpPr>
          <p:cNvPr id="1048671" name="Slide Number Placeholder 5"/>
          <p:cNvSpPr>
            <a:spLocks noGrp="1"/>
          </p:cNvSpPr>
          <p:nvPr>
            <p:ph type="sldNum" sz="quarter" idx="12"/>
          </p:nvPr>
        </p:nvSpPr>
        <p:spPr/>
        <p:txBody>
          <a:bodyPr/>
          <a:p>
            <a:fld id="{46A87611-411F-4010-8D8B-06BA0FB9B814}"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jpe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2">
            <a:lum/>
          </a:blip>
          <a:srcRect/>
          <a:stretch>
            <a:fillRect/>
          </a:stretch>
        </a:blipFill>
        <a:effectLst/>
      </p:bgPr>
    </p:bg>
    <p:spTree>
      <p:nvGrpSpPr>
        <p:cNvPr id="13"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DB0F9BBD-8C9D-400D-9A8D-E5AC21BF6231}" type="datetime1">
              <a:rPr lang="en-IN" smtClean="0"/>
              <a:t>30-04-2026</a:t>
            </a:fld>
            <a:endParaRPr lang="en-IN"/>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r>
              <a:rPr lang="en-US"/>
              <a:t>DAYANANDA SAGAR COLLEGE OF ENGINEERING</a:t>
            </a:r>
            <a:endParaRPr lang="en-IN"/>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46A87611-411F-4010-8D8B-06BA0FB9B814}" type="slidenum">
              <a:rPr lang="en-IN" smtClean="0"/>
              <a:t>‹#›</a:t>
            </a:fld>
            <a:endParaRPr lang="en-IN"/>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dt="0" ftr="1" hdr="0" sldNum="1"/>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jpeg"/><Relationship Id="rId3"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86" name="Footer Placeholder 1"/>
          <p:cNvSpPr txBox="1"/>
          <p:nvPr/>
        </p:nvSpPr>
        <p:spPr>
          <a:xfrm>
            <a:off x="4038600" y="6585285"/>
            <a:ext cx="4114800" cy="365125"/>
          </a:xfrm>
          <a:prstGeom prst="rect"/>
        </p:spPr>
        <p:txBody>
          <a:bodyPr anchor="ctr" bIns="45720" lIns="91440" rIns="91440" rtlCol="0" tIns="45720" vert="horz"/>
          <a:lstStyle>
            <a:defPPr>
              <a:defRPr lang="en-US"/>
            </a:defPPr>
            <a:lvl1pPr algn="ct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r>
              <a:rPr b="1" lang="en-US">
                <a:solidFill>
                  <a:schemeClr val="tx1"/>
                </a:solidFill>
                <a:latin typeface="Times New Roman" panose="02020603050405020304" pitchFamily="18" charset="0"/>
                <a:cs typeface="Times New Roman" panose="02020603050405020304" pitchFamily="18" charset="0"/>
              </a:rPr>
              <a:t>DAYANANDA SAGAR COLLEGE OF ENGINEERING</a:t>
            </a:r>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587" name="Slide Number Placeholder 2"/>
          <p:cNvSpPr txBox="1"/>
          <p:nvPr/>
        </p:nvSpPr>
        <p:spPr>
          <a:xfrm>
            <a:off x="8610600" y="6573497"/>
            <a:ext cx="2743200" cy="365125"/>
          </a:xfrm>
          <a:prstGeom prst="rect"/>
        </p:spPr>
        <p:txBody>
          <a:bodyPr anchor="ctr" bIns="45720" lIns="91440" rIns="91440" rtlCol="0" tIns="45720" vert="horz"/>
          <a:lstStyle>
            <a:defPPr>
              <a:defRPr lang="en-US"/>
            </a:defPPr>
            <a:lvl1pPr algn="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fld id="{46A87611-411F-4010-8D8B-06BA0FB9B814}" type="slidenum">
              <a:rPr b="1" lang="en-IN" smtClean="0">
                <a:solidFill>
                  <a:schemeClr val="tx1"/>
                </a:solidFill>
                <a:latin typeface="Times New Roman" panose="02020603050405020304" pitchFamily="18" charset="0"/>
                <a:cs typeface="Times New Roman" panose="02020603050405020304" pitchFamily="18" charset="0"/>
              </a:rPr>
              <a:t>1</a:t>
            </a:fld>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588" name="Rectangle 1"/>
          <p:cNvSpPr/>
          <p:nvPr/>
        </p:nvSpPr>
        <p:spPr>
          <a:xfrm>
            <a:off x="182880" y="1037287"/>
            <a:ext cx="11460480" cy="400110"/>
          </a:xfrm>
          <a:prstGeom prst="rect"/>
        </p:spPr>
        <p:txBody>
          <a:bodyPr wrap="square">
            <a:spAutoFit/>
          </a:bodyPr>
          <a:p>
            <a:pPr algn="ctr"/>
            <a:r>
              <a:rPr altLang="en-SG" b="1" dirty="0" sz="2000" lang="en-US" smtClean="0">
                <a:solidFill>
                  <a:schemeClr val="accent2">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a:t>
            </a:r>
            <a:r>
              <a:rPr altLang="en-SG" b="1" dirty="0" sz="2000" lang="en-US">
                <a:solidFill>
                  <a:schemeClr val="accent2">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Design and Implementation of a Multi-Factor Smart Security System with Cybersecurity Integration”</a:t>
            </a:r>
            <a:endParaRPr altLang="en-SG" b="1" dirty="0" sz="2000" lang="en-IN">
              <a:solidFill>
                <a:schemeClr val="accent2">
                  <a:lumMod val="75000"/>
                </a:schemeClr>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48589" name="Rectangle 2"/>
          <p:cNvSpPr/>
          <p:nvPr/>
        </p:nvSpPr>
        <p:spPr>
          <a:xfrm>
            <a:off x="4318000" y="0"/>
            <a:ext cx="7874000" cy="942340"/>
          </a:xfrm>
          <a:prstGeom prst="rect"/>
        </p:spPr>
        <p:txBody>
          <a:bodyPr wrap="square">
            <a:spAutoFit/>
          </a:bodyPr>
          <a:p>
            <a:pPr algn="ctr">
              <a:buNone/>
            </a:pPr>
            <a:r>
              <a:rPr dirty="0" sz="1400" lang="en-US">
                <a:solidFill>
                  <a:srgbClr val="FFFF00"/>
                </a:solidFill>
              </a:rPr>
              <a:t>(An Autonomous Institute affiliated to </a:t>
            </a:r>
            <a:r>
              <a:rPr dirty="0" sz="1400" lang="en-US" err="1">
                <a:solidFill>
                  <a:srgbClr val="FFFF00"/>
                </a:solidFill>
              </a:rPr>
              <a:t>Visvesvaraya</a:t>
            </a:r>
            <a:r>
              <a:rPr dirty="0" sz="1400" lang="en-US">
                <a:solidFill>
                  <a:srgbClr val="FFFF00"/>
                </a:solidFill>
              </a:rPr>
              <a:t> Technological University (VTU), </a:t>
            </a:r>
            <a:r>
              <a:rPr dirty="0" sz="1400" lang="en-US" err="1">
                <a:solidFill>
                  <a:srgbClr val="FFFF00"/>
                </a:solidFill>
              </a:rPr>
              <a:t>Belagavi</a:t>
            </a:r>
            <a:r>
              <a:rPr dirty="0" sz="1400" lang="en-US">
                <a:solidFill>
                  <a:srgbClr val="FFFF00"/>
                </a:solidFill>
              </a:rPr>
              <a:t>,</a:t>
            </a:r>
            <a:endParaRPr dirty="0" sz="1400" lang="en-IN">
              <a:solidFill>
                <a:srgbClr val="FFFF00"/>
              </a:solidFill>
            </a:endParaRPr>
          </a:p>
          <a:p>
            <a:pPr algn="ctr">
              <a:buNone/>
            </a:pPr>
            <a:r>
              <a:rPr dirty="0" sz="1400" lang="en-US">
                <a:solidFill>
                  <a:srgbClr val="FFFF00"/>
                </a:solidFill>
              </a:rPr>
              <a:t>Approved by AICTE and UGC, Accredited by NAAC with 'A' grade &amp; ISO 9001-2015 Certified Institution)</a:t>
            </a:r>
            <a:endParaRPr dirty="0" sz="1400" lang="en-IN">
              <a:solidFill>
                <a:srgbClr val="FFFF00"/>
              </a:solidFill>
            </a:endParaRPr>
          </a:p>
          <a:p>
            <a:pPr algn="ctr">
              <a:spcBef>
                <a:spcPts val="300"/>
              </a:spcBef>
              <a:buNone/>
            </a:pPr>
            <a:r>
              <a:rPr dirty="0" sz="1400" lang="en-US" err="1">
                <a:solidFill>
                  <a:srgbClr val="FFFF00"/>
                </a:solidFill>
              </a:rPr>
              <a:t>Shavige</a:t>
            </a:r>
            <a:r>
              <a:rPr dirty="0" sz="1400" lang="en-US">
                <a:solidFill>
                  <a:srgbClr val="FFFF00"/>
                </a:solidFill>
              </a:rPr>
              <a:t> </a:t>
            </a:r>
            <a:r>
              <a:rPr dirty="0" sz="1400" lang="en-US" err="1">
                <a:solidFill>
                  <a:srgbClr val="FFFF00"/>
                </a:solidFill>
              </a:rPr>
              <a:t>Malleshwara</a:t>
            </a:r>
            <a:r>
              <a:rPr dirty="0" sz="1400" lang="en-US">
                <a:solidFill>
                  <a:srgbClr val="FFFF00"/>
                </a:solidFill>
              </a:rPr>
              <a:t> Hills, </a:t>
            </a:r>
            <a:r>
              <a:rPr dirty="0" sz="1400" lang="en-US" err="1">
                <a:solidFill>
                  <a:srgbClr val="FFFF00"/>
                </a:solidFill>
              </a:rPr>
              <a:t>Kumaraswamy</a:t>
            </a:r>
            <a:r>
              <a:rPr dirty="0" sz="1400" lang="en-US">
                <a:solidFill>
                  <a:srgbClr val="FFFF00"/>
                </a:solidFill>
              </a:rPr>
              <a:t> Layout, Bengaluru- 560 111. India</a:t>
            </a:r>
            <a:endParaRPr dirty="0" sz="1400" lang="en-IN">
              <a:solidFill>
                <a:srgbClr val="FFFF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48590" name="Rectangle 4"/>
          <p:cNvSpPr/>
          <p:nvPr/>
        </p:nvSpPr>
        <p:spPr>
          <a:xfrm>
            <a:off x="1450110" y="1436067"/>
            <a:ext cx="8626764" cy="3171924"/>
          </a:xfrm>
          <a:prstGeom prst="rect"/>
        </p:spPr>
        <p:txBody>
          <a:bodyPr wrap="square">
            <a:noAutofit/>
          </a:bodyPr>
          <a:p>
            <a:pPr algn="ctr"/>
            <a:endParaRPr b="1" dirty="0" sz="1400" lang="en-IN">
              <a:solidFill>
                <a:srgbClr val="E65C01"/>
              </a:solidFill>
              <a:latin typeface="Times New Roman" panose="02020603050405020304"/>
              <a:ea typeface="Times New Roman" panose="02020603050405020304"/>
              <a:cs typeface="Times New Roman" panose="02020603050405020304"/>
              <a:sym typeface="Times New Roman" panose="02020603050405020304"/>
            </a:endParaRPr>
          </a:p>
          <a:p>
            <a:pPr algn="ctr"/>
            <a:endParaRPr b="1" dirty="0" sz="1400" lang="en-IN">
              <a:solidFill>
                <a:srgbClr val="E65C01"/>
              </a:solidFill>
              <a:latin typeface="Times New Roman" panose="02020603050405020304"/>
              <a:ea typeface="Times New Roman" panose="02020603050405020304"/>
              <a:cs typeface="Times New Roman" panose="02020603050405020304"/>
              <a:sym typeface="Times New Roman" panose="02020603050405020304"/>
            </a:endParaRPr>
          </a:p>
          <a:p>
            <a:pPr algn="ctr"/>
            <a:endParaRPr b="1" dirty="0" sz="1400" lang="en-IN">
              <a:solidFill>
                <a:srgbClr val="E65C01"/>
              </a:solidFill>
              <a:latin typeface="Times New Roman" panose="02020603050405020304"/>
              <a:ea typeface="Times New Roman" panose="02020603050405020304"/>
              <a:cs typeface="Times New Roman" panose="02020603050405020304"/>
              <a:sym typeface="Times New Roman" panose="02020603050405020304"/>
            </a:endParaRPr>
          </a:p>
          <a:p>
            <a:pPr algn="ctr"/>
            <a:r>
              <a:rPr b="1" dirty="0" sz="1400" lang="en-IN">
                <a:solidFill>
                  <a:srgbClr val="E65C01"/>
                </a:solidFill>
                <a:latin typeface="Times New Roman" panose="02020603050405020304"/>
                <a:ea typeface="Times New Roman" panose="02020603050405020304"/>
                <a:cs typeface="Times New Roman" panose="02020603050405020304"/>
                <a:sym typeface="Times New Roman" panose="02020603050405020304"/>
              </a:rPr>
              <a:t>MINI PROJECT </a:t>
            </a:r>
            <a:r>
              <a:rPr b="1" dirty="0" sz="1400" lang="en-IN" smtClean="0">
                <a:solidFill>
                  <a:srgbClr val="E65C01"/>
                </a:solidFill>
                <a:latin typeface="Times New Roman" panose="02020603050405020304"/>
                <a:ea typeface="Times New Roman" panose="02020603050405020304"/>
                <a:cs typeface="Times New Roman" panose="02020603050405020304"/>
                <a:sym typeface="Times New Roman" panose="02020603050405020304"/>
              </a:rPr>
              <a:t>PHASE-3 </a:t>
            </a:r>
            <a:r>
              <a:rPr b="1" dirty="0" sz="1400" lang="en-IN">
                <a:solidFill>
                  <a:srgbClr val="E65C01"/>
                </a:solidFill>
                <a:latin typeface="Times New Roman" panose="02020603050405020304"/>
                <a:ea typeface="Times New Roman" panose="02020603050405020304"/>
                <a:cs typeface="Times New Roman" panose="02020603050405020304"/>
                <a:sym typeface="Times New Roman" panose="02020603050405020304"/>
              </a:rPr>
              <a:t>PRESENTATION</a:t>
            </a:r>
          </a:p>
          <a:p>
            <a:pPr algn="ctr"/>
            <a:r>
              <a:rPr b="1" dirty="0" sz="1400" lang="en-IN">
                <a:solidFill>
                  <a:srgbClr val="E65C01"/>
                </a:solidFill>
                <a:latin typeface="Times New Roman" panose="02020603050405020304"/>
                <a:ea typeface="Times New Roman" panose="02020603050405020304"/>
                <a:cs typeface="Times New Roman" panose="02020603050405020304"/>
                <a:sym typeface="Times New Roman" panose="02020603050405020304"/>
              </a:rPr>
              <a:t>by</a:t>
            </a:r>
          </a:p>
          <a:p>
            <a:pPr algn="ctr"/>
            <a:r>
              <a:rPr b="1" dirty="0" sz="1400" lang="en-US">
                <a:solidFill>
                  <a:srgbClr val="E65C01"/>
                </a:solidFill>
                <a:latin typeface="Times New Roman" panose="02020603050405020304"/>
                <a:ea typeface="Times New Roman" panose="02020603050405020304"/>
                <a:cs typeface="Times New Roman" panose="02020603050405020304"/>
                <a:sym typeface="Times New Roman" panose="02020603050405020304"/>
              </a:rPr>
              <a:t>Group: 14</a:t>
            </a:r>
            <a:endParaRPr b="1" dirty="0" sz="1400" lang="en-IN">
              <a:solidFill>
                <a:srgbClr val="E65C01"/>
              </a:solidFill>
              <a:latin typeface="Times New Roman" panose="02020603050405020304"/>
              <a:ea typeface="Times New Roman" panose="02020603050405020304"/>
              <a:cs typeface="Times New Roman" panose="02020603050405020304"/>
              <a:sym typeface="Times New Roman" panose="02020603050405020304"/>
            </a:endParaRPr>
          </a:p>
          <a:p>
            <a:pPr algn="ctr"/>
            <a:endParaRPr b="1" dirty="0" sz="1400" lang="en-IN">
              <a:solidFill>
                <a:srgbClr val="E65C01"/>
              </a:solidFill>
              <a:latin typeface="Times New Roman" panose="02020603050405020304"/>
              <a:ea typeface="Times New Roman" panose="02020603050405020304"/>
              <a:cs typeface="Times New Roman" panose="02020603050405020304"/>
              <a:sym typeface="Times New Roman" panose="02020603050405020304"/>
            </a:endParaRPr>
          </a:p>
          <a:p>
            <a:pPr algn="ctr"/>
            <a:r>
              <a:rPr b="1" dirty="0" sz="1400" lang="en-IN">
                <a:solidFill>
                  <a:schemeClr val="accent1"/>
                </a:solidFill>
                <a:latin typeface="Times New Roman" panose="02020603050405020304" pitchFamily="18" charset="0"/>
                <a:ea typeface="Century Schoolbook" panose="02040604050505020304"/>
                <a:cs typeface="Times New Roman" panose="02020603050405020304" pitchFamily="18" charset="0"/>
                <a:sym typeface="Century Schoolbook" panose="02040604050505020304"/>
              </a:rPr>
              <a:t>NAME: </a:t>
            </a:r>
            <a:r>
              <a:rPr b="1" dirty="0" sz="1400" lang="en-IN">
                <a:solidFill>
                  <a:schemeClr val="accent1"/>
                </a:solidFill>
                <a:latin typeface="Century Schoolbook" panose="02040604050505020304"/>
                <a:ea typeface="Century Schoolbook" panose="02040604050505020304"/>
                <a:cs typeface="Century Schoolbook" panose="02040604050505020304"/>
                <a:sym typeface="Century Schoolbook" panose="02040604050505020304"/>
              </a:rPr>
              <a:t>                                               USN:  </a:t>
            </a:r>
          </a:p>
          <a:p>
            <a:pPr algn="ctr"/>
            <a:endParaRPr b="1" dirty="0" sz="1400" lang="en-US">
              <a:solidFill>
                <a:schemeClr val="accent1"/>
              </a:solidFill>
              <a:latin typeface="Century Schoolbook" panose="02040604050505020304"/>
              <a:ea typeface="Century Schoolbook" panose="02040604050505020304"/>
              <a:cs typeface="Century Schoolbook" panose="02040604050505020304"/>
              <a:sym typeface="Century Schoolbook" panose="02040604050505020304"/>
            </a:endParaRPr>
          </a:p>
          <a:p>
            <a:r>
              <a:rPr b="1" dirty="0" sz="1400" lang="en-IN">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                                          </a:t>
            </a:r>
            <a:r>
              <a:rPr b="1" dirty="0" sz="1400" lang="en-IN" smtClean="0">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   </a:t>
            </a:r>
            <a:r>
              <a:rPr b="1" dirty="0" sz="1400" lang="en-IN">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VARSHA H                                        1DS23EE118</a:t>
            </a:r>
          </a:p>
          <a:p>
            <a:r>
              <a:rPr b="1" dirty="0" sz="1400" lang="en-IN">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                                          </a:t>
            </a:r>
            <a:r>
              <a:rPr b="1" dirty="0" sz="1400" lang="en-IN" smtClean="0">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   </a:t>
            </a:r>
            <a:r>
              <a:rPr b="1" dirty="0" sz="1400" lang="en-IN">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N HEMANTH                                    1DS24EE406</a:t>
            </a:r>
          </a:p>
          <a:p>
            <a:r>
              <a:rPr b="1" dirty="0" sz="1400" lang="en-IN">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                                             </a:t>
            </a:r>
            <a:r>
              <a:rPr b="1" dirty="0" sz="1400" lang="en-IN" smtClean="0">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NANDAN </a:t>
            </a:r>
            <a:r>
              <a:rPr b="1" dirty="0" sz="1400" lang="en-IN">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A P                                    1DS24EE407</a:t>
            </a:r>
          </a:p>
          <a:p>
            <a:r>
              <a:rPr b="1" dirty="0" sz="1400" lang="en-IN">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                                           </a:t>
            </a:r>
            <a:r>
              <a:rPr b="1" dirty="0" sz="1400" lang="en-IN" smtClean="0">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  </a:t>
            </a:r>
            <a:r>
              <a:rPr b="1" dirty="0" sz="1400" lang="en-IN">
                <a:solidFill>
                  <a:srgbClr val="002060"/>
                </a:solidFill>
                <a:latin typeface="Century Schoolbook" panose="02040604050505020304"/>
                <a:ea typeface="Century Schoolbook" panose="02040604050505020304"/>
                <a:cs typeface="Century Schoolbook" panose="02040604050505020304"/>
                <a:sym typeface="Century Schoolbook" panose="02040604050505020304"/>
              </a:rPr>
              <a:t>PRADYUMNA G NADIGER           1DS24EE408</a:t>
            </a:r>
            <a:endParaRPr b="1" dirty="0" sz="2000" lang="en-IN">
              <a:solidFill>
                <a:srgbClr val="002060"/>
              </a:solidFill>
              <a:latin typeface="Century Schoolbook" panose="02040604050505020304"/>
              <a:ea typeface="Century Schoolbook" panose="02040604050505020304"/>
              <a:cs typeface="Century Schoolbook" panose="02040604050505020304"/>
              <a:sym typeface="Century Schoolbook" panose="02040604050505020304"/>
            </a:endParaRPr>
          </a:p>
          <a:p>
            <a:pPr algn="ctr"/>
            <a:endParaRPr b="1" dirty="0" lang="en-US">
              <a:solidFill>
                <a:schemeClr val="dk1"/>
              </a:solidFill>
              <a:latin typeface="Century Schoolbook" panose="02040604050505020304"/>
              <a:ea typeface="Century Schoolbook" panose="02040604050505020304"/>
              <a:cs typeface="Century Schoolbook" panose="02040604050505020304"/>
              <a:sym typeface="Century Schoolbook" panose="02040604050505020304"/>
            </a:endParaRPr>
          </a:p>
          <a:p>
            <a:pPr algn="ctr"/>
            <a:endParaRPr b="1" dirty="0" lang="en-US">
              <a:solidFill>
                <a:schemeClr val="dk1"/>
              </a:solidFill>
              <a:latin typeface="Century Schoolbook" panose="02040604050505020304"/>
              <a:ea typeface="Century Schoolbook" panose="02040604050505020304"/>
              <a:cs typeface="Century Schoolbook" panose="02040604050505020304"/>
              <a:sym typeface="Century Schoolbook" panose="02040604050505020304"/>
            </a:endParaRPr>
          </a:p>
          <a:p>
            <a:pPr algn="ctr"/>
            <a:r>
              <a:rPr b="1" dirty="0" lang="en-US">
                <a:solidFill>
                  <a:schemeClr val="dk1"/>
                </a:solidFill>
                <a:latin typeface="Century Schoolbook" panose="02040604050505020304"/>
                <a:ea typeface="Century Schoolbook" panose="02040604050505020304"/>
                <a:cs typeface="Century Schoolbook" panose="02040604050505020304"/>
                <a:sym typeface="Century Schoolbook" panose="02040604050505020304"/>
              </a:rPr>
              <a:t>Department of Electrical and Electronics Engineering</a:t>
            </a:r>
            <a:endParaRPr dirty="0" lang="en-US"/>
          </a:p>
          <a:p>
            <a:pPr algn="ctr"/>
            <a:endParaRPr b="1" dirty="0" sz="600" lang="en-IN">
              <a:solidFill>
                <a:schemeClr val="dk1"/>
              </a:solidFill>
              <a:latin typeface="Century Schoolbook" panose="02040604050505020304"/>
              <a:ea typeface="Century Schoolbook" panose="02040604050505020304"/>
              <a:cs typeface="Century Schoolbook" panose="02040604050505020304"/>
              <a:sym typeface="Century Schoolbook" panose="02040604050505020304"/>
            </a:endParaRPr>
          </a:p>
          <a:p>
            <a:pPr algn="ctr"/>
            <a:endParaRPr b="1" dirty="0" sz="600" lang="en-IN">
              <a:solidFill>
                <a:schemeClr val="dk1"/>
              </a:solidFill>
              <a:latin typeface="Century Schoolbook" panose="02040604050505020304"/>
              <a:ea typeface="Century Schoolbook" panose="02040604050505020304"/>
              <a:cs typeface="Century Schoolbook" panose="02040604050505020304"/>
              <a:sym typeface="Century Schoolbook" panose="02040604050505020304"/>
            </a:endParaRPr>
          </a:p>
          <a:p>
            <a:pPr algn="ctr"/>
            <a:r>
              <a:rPr b="1" dirty="0" lang="en-IN">
                <a:solidFill>
                  <a:schemeClr val="dk1"/>
                </a:solidFill>
                <a:latin typeface="Century Schoolbook" panose="02040604050505020304"/>
                <a:ea typeface="Century Schoolbook" panose="02040604050505020304"/>
                <a:cs typeface="Century Schoolbook" panose="02040604050505020304"/>
                <a:sym typeface="Century Schoolbook" panose="02040604050505020304"/>
              </a:rPr>
              <a:t> </a:t>
            </a:r>
            <a:r>
              <a:rPr b="1" dirty="0" lang="en-IN">
                <a:solidFill>
                  <a:srgbClr val="FF0000"/>
                </a:solidFill>
                <a:latin typeface="Century Schoolbook" panose="02040604050505020304"/>
                <a:ea typeface="Century Schoolbook" panose="02040604050505020304"/>
                <a:cs typeface="Century Schoolbook" panose="02040604050505020304"/>
                <a:sym typeface="Century Schoolbook" panose="02040604050505020304"/>
              </a:rPr>
              <a:t>Under the Guidance of</a:t>
            </a:r>
          </a:p>
          <a:p>
            <a:pPr algn="ctr"/>
            <a:r>
              <a:rPr b="1" dirty="0" lang="en-IN" err="1">
                <a:solidFill>
                  <a:srgbClr val="FF0000"/>
                </a:solidFill>
                <a:latin typeface="Century Schoolbook" panose="02040604050505020304"/>
                <a:ea typeface="Century Schoolbook" panose="02040604050505020304"/>
                <a:cs typeface="Century Schoolbook" panose="02040604050505020304"/>
                <a:sym typeface="Century Schoolbook" panose="02040604050505020304"/>
              </a:rPr>
              <a:t>Dr.</a:t>
            </a:r>
            <a:r>
              <a:rPr b="1" dirty="0" lang="en-IN">
                <a:solidFill>
                  <a:srgbClr val="FF0000"/>
                </a:solidFill>
                <a:latin typeface="Century Schoolbook" panose="02040604050505020304"/>
                <a:ea typeface="Century Schoolbook" panose="02040604050505020304"/>
                <a:cs typeface="Century Schoolbook" panose="02040604050505020304"/>
                <a:sym typeface="Century Schoolbook" panose="02040604050505020304"/>
              </a:rPr>
              <a:t> </a:t>
            </a:r>
            <a:r>
              <a:rPr b="1" dirty="0" lang="en-IN" err="1">
                <a:solidFill>
                  <a:srgbClr val="FF0000"/>
                </a:solidFill>
                <a:latin typeface="Century Schoolbook" panose="02040604050505020304"/>
                <a:ea typeface="Century Schoolbook" panose="02040604050505020304"/>
                <a:cs typeface="Century Schoolbook" panose="02040604050505020304"/>
                <a:sym typeface="Century Schoolbook" panose="02040604050505020304"/>
              </a:rPr>
              <a:t>RahulKumar</a:t>
            </a:r>
            <a:r>
              <a:rPr b="1" dirty="0" lang="en-IN">
                <a:solidFill>
                  <a:srgbClr val="FF0000"/>
                </a:solidFill>
                <a:latin typeface="Century Schoolbook" panose="02040604050505020304"/>
                <a:ea typeface="Century Schoolbook" panose="02040604050505020304"/>
                <a:cs typeface="Century Schoolbook" panose="02040604050505020304"/>
                <a:sym typeface="Century Schoolbook" panose="02040604050505020304"/>
              </a:rPr>
              <a:t> J                                                                                    </a:t>
            </a:r>
          </a:p>
          <a:p>
            <a:pPr algn="ctr"/>
            <a:r>
              <a:rPr b="1" dirty="0" lang="en-IN" smtClean="0">
                <a:solidFill>
                  <a:srgbClr val="FF0000"/>
                </a:solidFill>
                <a:latin typeface="Century Schoolbook" panose="02040604050505020304"/>
                <a:ea typeface="Century Schoolbook" panose="02040604050505020304"/>
                <a:cs typeface="Century Schoolbook" panose="02040604050505020304"/>
                <a:sym typeface="Century Schoolbook" panose="02040604050505020304"/>
              </a:rPr>
              <a:t>Assistant </a:t>
            </a:r>
            <a:r>
              <a:rPr b="1" dirty="0" lang="en-IN">
                <a:solidFill>
                  <a:srgbClr val="FF0000"/>
                </a:solidFill>
                <a:latin typeface="Century Schoolbook" panose="02040604050505020304"/>
                <a:ea typeface="Century Schoolbook" panose="02040604050505020304"/>
                <a:cs typeface="Century Schoolbook" panose="02040604050505020304"/>
                <a:sym typeface="Century Schoolbook" panose="02040604050505020304"/>
              </a:rPr>
              <a:t>Professor</a:t>
            </a:r>
            <a:endParaRPr dirty="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593" name="Rectangle 3"/>
          <p:cNvSpPr/>
          <p:nvPr/>
        </p:nvSpPr>
        <p:spPr>
          <a:xfrm>
            <a:off x="4333461" y="41133"/>
            <a:ext cx="7858539" cy="707886"/>
          </a:xfrm>
          <a:prstGeom prst="rect"/>
        </p:spPr>
        <p:txBody>
          <a:bodyPr wrap="square">
            <a:spAutoFit/>
          </a:bodyPr>
          <a:p>
            <a:pPr algn="ctr"/>
            <a:r>
              <a:rPr dirty="0" sz="4000" lang="en-IN">
                <a:solidFill>
                  <a:srgbClr val="FFFF00"/>
                </a:solidFill>
              </a:rPr>
              <a:t>Introduction/ Project overview</a:t>
            </a:r>
            <a:endParaRPr b="1" dirty="0" sz="4000" lang="en-US">
              <a:solidFill>
                <a:srgbClr val="FFFF00"/>
              </a:solidFill>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endParaRPr>
          </a:p>
        </p:txBody>
      </p:sp>
      <p:sp>
        <p:nvSpPr>
          <p:cNvPr id="1048594" name="Footer Placeholder 1"/>
          <p:cNvSpPr txBox="1"/>
          <p:nvPr/>
        </p:nvSpPr>
        <p:spPr>
          <a:xfrm>
            <a:off x="4038600" y="6585285"/>
            <a:ext cx="4114800" cy="365125"/>
          </a:xfrm>
          <a:prstGeom prst="rect"/>
        </p:spPr>
        <p:txBody>
          <a:bodyPr anchor="ctr" bIns="45720" lIns="91440" rIns="91440" rtlCol="0" tIns="45720" vert="horz"/>
          <a:lstStyle>
            <a:defPPr>
              <a:defRPr lang="en-US"/>
            </a:defPPr>
            <a:lvl1pPr algn="ct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r>
              <a:rPr b="1" lang="en-US">
                <a:solidFill>
                  <a:schemeClr val="tx1"/>
                </a:solidFill>
                <a:latin typeface="Times New Roman" panose="02020603050405020304" pitchFamily="18" charset="0"/>
                <a:cs typeface="Times New Roman" panose="02020603050405020304" pitchFamily="18" charset="0"/>
              </a:rPr>
              <a:t>DAYANANDA SAGAR COLLEGE OF ENGINEERING</a:t>
            </a:r>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595" name="Slide Number Placeholder 2"/>
          <p:cNvSpPr txBox="1"/>
          <p:nvPr/>
        </p:nvSpPr>
        <p:spPr>
          <a:xfrm>
            <a:off x="8610600" y="6573497"/>
            <a:ext cx="2743200" cy="365125"/>
          </a:xfrm>
          <a:prstGeom prst="rect"/>
        </p:spPr>
        <p:txBody>
          <a:bodyPr anchor="ctr" bIns="45720" lIns="91440" rIns="91440" rtlCol="0" tIns="45720" vert="horz"/>
          <a:lstStyle>
            <a:defPPr>
              <a:defRPr lang="en-US"/>
            </a:defPPr>
            <a:lvl1pPr algn="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fld id="{46A87611-411F-4010-8D8B-06BA0FB9B814}" type="slidenum">
              <a:rPr b="1" lang="en-IN" smtClean="0">
                <a:solidFill>
                  <a:schemeClr val="tx1"/>
                </a:solidFill>
                <a:latin typeface="Times New Roman" panose="02020603050405020304" pitchFamily="18" charset="0"/>
                <a:cs typeface="Times New Roman" panose="02020603050405020304" pitchFamily="18" charset="0"/>
              </a:rPr>
              <a:t>2</a:t>
            </a:fld>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596" name="Content Placeholder 2"/>
          <p:cNvSpPr txBox="1"/>
          <p:nvPr/>
        </p:nvSpPr>
        <p:spPr>
          <a:xfrm>
            <a:off x="577273" y="1173018"/>
            <a:ext cx="11037454" cy="4802909"/>
          </a:xfrm>
          <a:prstGeom prst="rect"/>
        </p:spPr>
        <p:txBody>
          <a:bodyPr bIns="45720" lIns="91440" rIns="91440" rtlCol="0" tIns="45720" vert="horz">
            <a:normAutofit/>
          </a:bodyPr>
          <a:lstStyle>
            <a:lvl1pPr algn="ctr" defTabSz="914400" eaLnBrk="1" hangingPunct="1" indent="0" latinLnBrk="0" marL="0" rtl="0">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algn="ctr" defTabSz="914400" eaLnBrk="1" hangingPunct="1" indent="0" latinLnBrk="0" marL="457200" rtl="0">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algn="ctr" defTabSz="914400" eaLnBrk="1" hangingPunct="1" indent="0" latinLnBrk="0" marL="914400" rtl="0">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algn="ctr" defTabSz="914400" eaLnBrk="1" hangingPunct="1" indent="0" latinLnBrk="0" marL="1371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algn="ctr" defTabSz="914400" eaLnBrk="1" hangingPunct="1" indent="0" latinLnBrk="0" marL="18288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algn="ctr" defTabSz="914400" eaLnBrk="1" hangingPunct="1" indent="0" latinLnBrk="0" marL="22860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algn="ctr" defTabSz="914400" eaLnBrk="1" hangingPunct="1" indent="0" latinLnBrk="0" marL="27432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algn="ctr" defTabSz="914400" eaLnBrk="1" hangingPunct="1" indent="0" latinLnBrk="0" marL="32004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algn="ctr" defTabSz="914400" eaLnBrk="1" hangingPunct="1" indent="0" latinLnBrk="0" marL="3657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indent="-342900" marL="342900">
              <a:lnSpc>
                <a:spcPct val="10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Security is a growing concern due to increasing unauthorized access and cyber threats.</a:t>
            </a:r>
          </a:p>
          <a:p>
            <a:pPr algn="just" indent="-342900" marL="342900">
              <a:lnSpc>
                <a:spcPct val="10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This project presents a Multi-Factor Smart Security System using password and fingerprint authentication for enhanced protection.</a:t>
            </a:r>
          </a:p>
          <a:p>
            <a:pPr algn="just" indent="-342900" marL="342900">
              <a:lnSpc>
                <a:spcPct val="10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The system uses ESP32 with a camera module to send real-time alerts via a web platform.</a:t>
            </a:r>
          </a:p>
          <a:p>
            <a:pPr algn="just" indent="-342900" marL="342900">
              <a:lnSpc>
                <a:spcPct val="10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The owner can remotely approve or deny access, ensuring better control and safety.</a:t>
            </a:r>
          </a:p>
          <a:p>
            <a:pPr algn="just" indent="-342900" marL="342900">
              <a:lnSpc>
                <a:spcPct val="10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The system provides real-time monitoring with image capture for improved surveillance.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597" name="Rectangle 3"/>
          <p:cNvSpPr/>
          <p:nvPr/>
        </p:nvSpPr>
        <p:spPr>
          <a:xfrm>
            <a:off x="4333461" y="41133"/>
            <a:ext cx="7858539" cy="707886"/>
          </a:xfrm>
          <a:prstGeom prst="rect"/>
        </p:spPr>
        <p:txBody>
          <a:bodyPr wrap="square">
            <a:spAutoFit/>
          </a:bodyPr>
          <a:p>
            <a:pPr algn="ctr"/>
            <a:r>
              <a:rPr dirty="0" sz="4000" lang="en-IN">
                <a:solidFill>
                  <a:srgbClr val="FFFF00"/>
                </a:solidFill>
              </a:rPr>
              <a:t>Objectives</a:t>
            </a:r>
            <a:endParaRPr b="1" dirty="0" sz="4000" lang="en-US">
              <a:solidFill>
                <a:srgbClr val="FFFF00"/>
              </a:solidFill>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endParaRPr>
          </a:p>
        </p:txBody>
      </p:sp>
      <p:sp>
        <p:nvSpPr>
          <p:cNvPr id="1048598" name="Footer Placeholder 1"/>
          <p:cNvSpPr txBox="1"/>
          <p:nvPr/>
        </p:nvSpPr>
        <p:spPr>
          <a:xfrm>
            <a:off x="4038600" y="6585285"/>
            <a:ext cx="4114800" cy="365125"/>
          </a:xfrm>
          <a:prstGeom prst="rect"/>
        </p:spPr>
        <p:txBody>
          <a:bodyPr anchor="ctr" bIns="45720" lIns="91440" rIns="91440" rtlCol="0" tIns="45720" vert="horz"/>
          <a:lstStyle>
            <a:defPPr>
              <a:defRPr lang="en-US"/>
            </a:defPPr>
            <a:lvl1pPr algn="ct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r>
              <a:rPr b="1" lang="en-US">
                <a:solidFill>
                  <a:schemeClr val="tx1"/>
                </a:solidFill>
                <a:latin typeface="Times New Roman" panose="02020603050405020304" pitchFamily="18" charset="0"/>
                <a:cs typeface="Times New Roman" panose="02020603050405020304" pitchFamily="18" charset="0"/>
              </a:rPr>
              <a:t>DAYANANDA SAGAR COLLEGE OF ENGINEERING</a:t>
            </a:r>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599" name="Slide Number Placeholder 2"/>
          <p:cNvSpPr txBox="1"/>
          <p:nvPr/>
        </p:nvSpPr>
        <p:spPr>
          <a:xfrm>
            <a:off x="8610600" y="6573497"/>
            <a:ext cx="2743200" cy="365125"/>
          </a:xfrm>
          <a:prstGeom prst="rect"/>
        </p:spPr>
        <p:txBody>
          <a:bodyPr anchor="ctr" bIns="45720" lIns="91440" rIns="91440" rtlCol="0" tIns="45720" vert="horz"/>
          <a:lstStyle>
            <a:defPPr>
              <a:defRPr lang="en-US"/>
            </a:defPPr>
            <a:lvl1pPr algn="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fld id="{46A87611-411F-4010-8D8B-06BA0FB9B814}" type="slidenum">
              <a:rPr b="1" lang="en-IN" smtClean="0">
                <a:solidFill>
                  <a:schemeClr val="tx1"/>
                </a:solidFill>
                <a:latin typeface="Times New Roman" panose="02020603050405020304" pitchFamily="18" charset="0"/>
                <a:cs typeface="Times New Roman" panose="02020603050405020304" pitchFamily="18" charset="0"/>
              </a:rPr>
              <a:t>3</a:t>
            </a:fld>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00" name="Content Placeholder 2"/>
          <p:cNvSpPr txBox="1"/>
          <p:nvPr/>
        </p:nvSpPr>
        <p:spPr>
          <a:xfrm>
            <a:off x="467648" y="1196628"/>
            <a:ext cx="10972800" cy="4373880"/>
          </a:xfrm>
          <a:prstGeom prst="rect"/>
        </p:spPr>
        <p:txBody>
          <a:bodyPr bIns="45720" lIns="91440" rIns="91440" rtlCol="0" tIns="45720" vert="horz">
            <a:normAutofit/>
          </a:bodyPr>
          <a:lstStyle>
            <a:lvl1pPr algn="ctr" defTabSz="914400" eaLnBrk="1" hangingPunct="1" indent="0" latinLnBrk="0" marL="0" rtl="0">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algn="ctr" defTabSz="914400" eaLnBrk="1" hangingPunct="1" indent="0" latinLnBrk="0" marL="457200" rtl="0">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algn="ctr" defTabSz="914400" eaLnBrk="1" hangingPunct="1" indent="0" latinLnBrk="0" marL="914400" rtl="0">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algn="ctr" defTabSz="914400" eaLnBrk="1" hangingPunct="1" indent="0" latinLnBrk="0" marL="1371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algn="ctr" defTabSz="914400" eaLnBrk="1" hangingPunct="1" indent="0" latinLnBrk="0" marL="18288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algn="ctr" defTabSz="914400" eaLnBrk="1" hangingPunct="1" indent="0" latinLnBrk="0" marL="22860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algn="ctr" defTabSz="914400" eaLnBrk="1" hangingPunct="1" indent="0" latinLnBrk="0" marL="27432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algn="ctr" defTabSz="914400" eaLnBrk="1" hangingPunct="1" indent="0" latinLnBrk="0" marL="32004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algn="ctr" defTabSz="914400" eaLnBrk="1" hangingPunct="1" indent="0" latinLnBrk="0" marL="3657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indent="-342900" marL="342900">
              <a:lnSpc>
                <a:spcPct val="10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To design and develop a multi-factor authentication system using password and fingerprint verification.</a:t>
            </a:r>
          </a:p>
          <a:p>
            <a:pPr algn="just" indent="-342900" marL="342900">
              <a:lnSpc>
                <a:spcPct val="10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To implement a smart security system using ESP32 for efficient control and processing.</a:t>
            </a:r>
          </a:p>
          <a:p>
            <a:pPr algn="just" indent="-342900" marL="342900">
              <a:lnSpc>
                <a:spcPct val="10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To integrate a camera module for real-time image capture during access attempts.</a:t>
            </a:r>
          </a:p>
          <a:p>
            <a:pPr algn="just" indent="-342900" marL="342900">
              <a:lnSpc>
                <a:spcPct val="10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To enable remote access control, allowing the owner to approve or deny entry.</a:t>
            </a:r>
          </a:p>
          <a:p>
            <a:pPr algn="just" indent="-342900" marL="342900">
              <a:lnSpc>
                <a:spcPct val="10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To enhance overall security, reliability, and user control compared to traditional systems.</a:t>
            </a:r>
            <a:endParaRPr dirty="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1" name="Rectangle 3"/>
          <p:cNvSpPr/>
          <p:nvPr/>
        </p:nvSpPr>
        <p:spPr>
          <a:xfrm>
            <a:off x="4333461" y="41133"/>
            <a:ext cx="7858539" cy="707886"/>
          </a:xfrm>
          <a:prstGeom prst="rect"/>
        </p:spPr>
        <p:txBody>
          <a:bodyPr wrap="square">
            <a:spAutoFit/>
          </a:bodyPr>
          <a:p>
            <a:pPr algn="ctr"/>
            <a:r>
              <a:rPr dirty="0" sz="4000" lang="en-IN">
                <a:solidFill>
                  <a:srgbClr val="FFFF00"/>
                </a:solidFill>
              </a:rPr>
              <a:t>Literature Review</a:t>
            </a:r>
            <a:endParaRPr b="1" dirty="0" sz="4000" lang="en-US">
              <a:solidFill>
                <a:srgbClr val="FFFF00"/>
              </a:solidFill>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endParaRPr>
          </a:p>
        </p:txBody>
      </p:sp>
      <p:sp>
        <p:nvSpPr>
          <p:cNvPr id="1048602" name="Footer Placeholder 1"/>
          <p:cNvSpPr txBox="1"/>
          <p:nvPr/>
        </p:nvSpPr>
        <p:spPr>
          <a:xfrm>
            <a:off x="4038600" y="6585285"/>
            <a:ext cx="4114800" cy="365125"/>
          </a:xfrm>
          <a:prstGeom prst="rect"/>
        </p:spPr>
        <p:txBody>
          <a:bodyPr anchor="ctr" bIns="45720" lIns="91440" rIns="91440" rtlCol="0" tIns="45720" vert="horz"/>
          <a:lstStyle>
            <a:defPPr>
              <a:defRPr lang="en-US"/>
            </a:defPPr>
            <a:lvl1pPr algn="ct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r>
              <a:rPr b="1" lang="en-US">
                <a:solidFill>
                  <a:schemeClr val="tx1"/>
                </a:solidFill>
                <a:latin typeface="Times New Roman" panose="02020603050405020304" pitchFamily="18" charset="0"/>
                <a:cs typeface="Times New Roman" panose="02020603050405020304" pitchFamily="18" charset="0"/>
              </a:rPr>
              <a:t>DAYANANDA SAGAR COLLEGE OF ENGINEERING</a:t>
            </a:r>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03" name="Slide Number Placeholder 2"/>
          <p:cNvSpPr txBox="1"/>
          <p:nvPr/>
        </p:nvSpPr>
        <p:spPr>
          <a:xfrm>
            <a:off x="8610600" y="6573497"/>
            <a:ext cx="2743200" cy="365125"/>
          </a:xfrm>
          <a:prstGeom prst="rect"/>
        </p:spPr>
        <p:txBody>
          <a:bodyPr anchor="ctr" bIns="45720" lIns="91440" rIns="91440" rtlCol="0" tIns="45720" vert="horz"/>
          <a:lstStyle>
            <a:defPPr>
              <a:defRPr lang="en-US"/>
            </a:defPPr>
            <a:lvl1pPr algn="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fld id="{46A87611-411F-4010-8D8B-06BA0FB9B814}" type="slidenum">
              <a:rPr b="1" lang="en-IN" smtClean="0">
                <a:solidFill>
                  <a:schemeClr val="tx1"/>
                </a:solidFill>
                <a:latin typeface="Times New Roman" panose="02020603050405020304" pitchFamily="18" charset="0"/>
                <a:cs typeface="Times New Roman" panose="02020603050405020304" pitchFamily="18" charset="0"/>
              </a:rPr>
              <a:t>4</a:t>
            </a:fld>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04" name="Content Placeholder 2"/>
          <p:cNvSpPr txBox="1"/>
          <p:nvPr/>
        </p:nvSpPr>
        <p:spPr>
          <a:xfrm>
            <a:off x="425421" y="1205172"/>
            <a:ext cx="11341158" cy="4299701"/>
          </a:xfrm>
          <a:prstGeom prst="rect"/>
        </p:spPr>
        <p:txBody>
          <a:bodyPr bIns="45720" lIns="91440" rIns="91440" rtlCol="0" tIns="45720" vert="horz">
            <a:normAutofit/>
          </a:bodyPr>
          <a:lstStyle>
            <a:lvl1pPr algn="ctr" defTabSz="914400" eaLnBrk="1" hangingPunct="1" indent="0" latinLnBrk="0" marL="0" rtl="0">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algn="ctr" defTabSz="914400" eaLnBrk="1" hangingPunct="1" indent="0" latinLnBrk="0" marL="457200" rtl="0">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algn="ctr" defTabSz="914400" eaLnBrk="1" hangingPunct="1" indent="0" latinLnBrk="0" marL="914400" rtl="0">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algn="ctr" defTabSz="914400" eaLnBrk="1" hangingPunct="1" indent="0" latinLnBrk="0" marL="1371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algn="ctr" defTabSz="914400" eaLnBrk="1" hangingPunct="1" indent="0" latinLnBrk="0" marL="18288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algn="ctr" defTabSz="914400" eaLnBrk="1" hangingPunct="1" indent="0" latinLnBrk="0" marL="22860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algn="ctr" defTabSz="914400" eaLnBrk="1" hangingPunct="1" indent="0" latinLnBrk="0" marL="27432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algn="ctr" defTabSz="914400" eaLnBrk="1" hangingPunct="1" indent="0" latinLnBrk="0" marL="32004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algn="ctr" defTabSz="914400" eaLnBrk="1" hangingPunct="1" indent="0" latinLnBrk="0" marL="3657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altLang="en-US" dirty="0" lang="en-US">
              <a:latin typeface="Times New Roman" panose="02020603050405020304" pitchFamily="18" charset="0"/>
              <a:cs typeface="Times New Roman" panose="02020603050405020304" pitchFamily="18" charset="0"/>
            </a:endParaRPr>
          </a:p>
        </p:txBody>
      </p:sp>
      <p:graphicFrame>
        <p:nvGraphicFramePr>
          <p:cNvPr id="4194304" name="Table 2"/>
          <p:cNvGraphicFramePr>
            <a:graphicFrameLocks noGrp="1"/>
          </p:cNvGraphicFramePr>
          <p:nvPr/>
        </p:nvGraphicFramePr>
        <p:xfrm>
          <a:off x="1711922" y="1086280"/>
          <a:ext cx="8448078" cy="4359630"/>
        </p:xfrm>
        <a:graphic>
          <a:graphicData uri="http://schemas.openxmlformats.org/drawingml/2006/table">
            <a:tbl>
              <a:tblPr firstRow="1" bandRow="1">
                <a:tableStyleId>{5C22544A-7EE6-4342-B048-85BDC9FD1C3A}</a:tableStyleId>
              </a:tblPr>
              <a:tblGrid>
                <a:gridCol w="2573751"/>
                <a:gridCol w="2540000"/>
                <a:gridCol w="1302327"/>
                <a:gridCol w="2032000"/>
              </a:tblGrid>
              <a:tr h="797938">
                <a:tc>
                  <a:txBody>
                    <a:bodyPr/>
                    <a:p>
                      <a:pPr algn="ctr"/>
                      <a:r>
                        <a:rPr dirty="0" lang="en-GB">
                          <a:solidFill>
                            <a:schemeClr val="tx1"/>
                          </a:solidFill>
                          <a:latin typeface="Times New Roman" panose="02020603050405020304" pitchFamily="18" charset="0"/>
                          <a:cs typeface="Times New Roman" panose="02020603050405020304" pitchFamily="18" charset="0"/>
                        </a:rPr>
                        <a:t>Title</a:t>
                      </a:r>
                      <a:endParaRPr dirty="0" lang="en-IN">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GB">
                          <a:solidFill>
                            <a:schemeClr val="tx1"/>
                          </a:solidFill>
                          <a:latin typeface="Times New Roman" panose="02020603050405020304" pitchFamily="18" charset="0"/>
                          <a:cs typeface="Times New Roman" panose="02020603050405020304" pitchFamily="18" charset="0"/>
                        </a:rPr>
                        <a:t>Author</a:t>
                      </a:r>
                      <a:endParaRPr dirty="0" lang="en-IN">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GB">
                          <a:solidFill>
                            <a:schemeClr val="tx1"/>
                          </a:solidFill>
                          <a:latin typeface="Times New Roman" panose="02020603050405020304" pitchFamily="18" charset="0"/>
                          <a:cs typeface="Times New Roman" panose="02020603050405020304" pitchFamily="18" charset="0"/>
                        </a:rPr>
                        <a:t>Year</a:t>
                      </a:r>
                      <a:endParaRPr dirty="0" lang="en-IN">
                        <a:solidFill>
                          <a:schemeClr val="tx1"/>
                        </a:solidFill>
                        <a:latin typeface="Times New Roman" panose="02020603050405020304" pitchFamily="18" charset="0"/>
                        <a:cs typeface="Times New Roman" panose="02020603050405020304" pitchFamily="18" charset="0"/>
                      </a:endParaRPr>
                    </a:p>
                  </a:txBody>
                </a:tc>
                <a:tc>
                  <a:txBody>
                    <a:bodyPr/>
                    <a:p>
                      <a:pPr algn="ctr"/>
                      <a:r>
                        <a:rPr dirty="0" lang="en-GB">
                          <a:solidFill>
                            <a:schemeClr val="tx1"/>
                          </a:solidFill>
                          <a:latin typeface="Times New Roman" panose="02020603050405020304" pitchFamily="18" charset="0"/>
                          <a:cs typeface="Times New Roman" panose="02020603050405020304" pitchFamily="18" charset="0"/>
                        </a:rPr>
                        <a:t>Literature gap</a:t>
                      </a:r>
                      <a:endParaRPr dirty="0" lang="en-IN">
                        <a:solidFill>
                          <a:schemeClr val="tx1"/>
                        </a:solidFill>
                        <a:latin typeface="Times New Roman" panose="02020603050405020304" pitchFamily="18" charset="0"/>
                        <a:cs typeface="Times New Roman" panose="02020603050405020304" pitchFamily="18" charset="0"/>
                      </a:endParaRPr>
                    </a:p>
                  </a:txBody>
                </a:tc>
              </a:tr>
              <a:tr h="1184252">
                <a:tc>
                  <a:txBody>
                    <a:bodyPr/>
                    <a:p>
                      <a:pPr algn="ctr"/>
                      <a:r>
                        <a:rPr dirty="0" sz="1800" lang="en-US">
                          <a:latin typeface="Times New Roman" panose="02020603050405020304" pitchFamily="18" charset="0"/>
                          <a:cs typeface="Times New Roman" panose="02020603050405020304" pitchFamily="18" charset="0"/>
                        </a:rPr>
                        <a:t>Smart IoT based Integrated Home Security System</a:t>
                      </a:r>
                      <a:endParaRPr dirty="0" lang="en-IN">
                        <a:latin typeface="Times New Roman" panose="02020603050405020304" pitchFamily="18" charset="0"/>
                        <a:cs typeface="Times New Roman" panose="02020603050405020304" pitchFamily="18" charset="0"/>
                      </a:endParaRPr>
                    </a:p>
                  </a:txBody>
                </a:tc>
                <a:tc>
                  <a:txBody>
                    <a:bodyPr/>
                    <a:p>
                      <a:pPr algn="ctr"/>
                      <a:r>
                        <a:rPr dirty="0" sz="1800" lang="fi-FI">
                          <a:latin typeface="Times New Roman" panose="02020603050405020304" pitchFamily="18" charset="0"/>
                          <a:cs typeface="Times New Roman" panose="02020603050405020304" pitchFamily="18" charset="0"/>
                        </a:rPr>
                        <a:t>Malti Bansal, Navodit Adarsh, Nitin Kumar, Monika Meena. </a:t>
                      </a:r>
                      <a:endParaRPr dirty="0" lang="en-IN">
                        <a:latin typeface="Times New Roman" panose="02020603050405020304" pitchFamily="18" charset="0"/>
                        <a:cs typeface="Times New Roman" panose="02020603050405020304" pitchFamily="18" charset="0"/>
                      </a:endParaRPr>
                    </a:p>
                  </a:txBody>
                </a:tc>
                <a:tc>
                  <a:txBody>
                    <a:bodyPr/>
                    <a:p>
                      <a:pPr algn="ctr"/>
                      <a:r>
                        <a:rPr dirty="0" lang="en-GB">
                          <a:latin typeface="Times New Roman" panose="02020603050405020304" pitchFamily="18" charset="0"/>
                          <a:cs typeface="Times New Roman" panose="02020603050405020304" pitchFamily="18" charset="0"/>
                        </a:rPr>
                        <a:t>2020</a:t>
                      </a:r>
                      <a:endParaRPr dirty="0" lang="en-IN">
                        <a:latin typeface="Times New Roman" panose="02020603050405020304" pitchFamily="18" charset="0"/>
                        <a:cs typeface="Times New Roman" panose="02020603050405020304" pitchFamily="18" charset="0"/>
                      </a:endParaRPr>
                    </a:p>
                  </a:txBody>
                </a:tc>
                <a:tc>
                  <a:txBody>
                    <a:bodyPr/>
                    <a:p>
                      <a:pPr algn="ctr"/>
                      <a:r>
                        <a:rPr dirty="0" lang="en-GB">
                          <a:latin typeface="Times New Roman" panose="02020603050405020304" pitchFamily="18" charset="0"/>
                          <a:cs typeface="Times New Roman" panose="02020603050405020304" pitchFamily="18" charset="0"/>
                        </a:rPr>
                        <a:t>Keypad and RFID reader</a:t>
                      </a:r>
                      <a:endParaRPr dirty="0" lang="en-IN">
                        <a:latin typeface="Times New Roman" panose="02020603050405020304" pitchFamily="18" charset="0"/>
                        <a:cs typeface="Times New Roman" panose="02020603050405020304" pitchFamily="18" charset="0"/>
                      </a:endParaRPr>
                    </a:p>
                  </a:txBody>
                </a:tc>
              </a:tr>
              <a:tr h="1184252">
                <a:tc>
                  <a:txBody>
                    <a:bodyPr/>
                    <a:p>
                      <a:pPr algn="ctr" defTabSz="914400" eaLnBrk="1" fontAlgn="auto" hangingPunct="1" indent="0" latinLnBrk="0" lvl="0" marL="0" marR="0" rtl="0">
                        <a:lnSpc>
                          <a:spcPct val="100000"/>
                        </a:lnSpc>
                        <a:spcBef>
                          <a:spcPts val="0"/>
                        </a:spcBef>
                        <a:spcAft>
                          <a:spcPts val="0"/>
                        </a:spcAft>
                        <a:buClrTx/>
                        <a:buSzTx/>
                        <a:buFontTx/>
                        <a:buNone/>
                      </a:pPr>
                      <a:r>
                        <a:rPr dirty="0" sz="1800" lang="en-US">
                          <a:latin typeface="Times New Roman" panose="02020603050405020304" pitchFamily="18" charset="0"/>
                          <a:cs typeface="Times New Roman" panose="02020603050405020304" pitchFamily="18" charset="0"/>
                        </a:rPr>
                        <a:t>Smart Home Security System using IoT and ESP8266</a:t>
                      </a:r>
                      <a:endParaRPr dirty="0" lang="en-IN">
                        <a:latin typeface="Times New Roman" panose="02020603050405020304" pitchFamily="18" charset="0"/>
                        <a:cs typeface="Times New Roman" panose="02020603050405020304" pitchFamily="18" charset="0"/>
                      </a:endParaRPr>
                    </a:p>
                  </a:txBody>
                </a:tc>
                <a:tc>
                  <a:txBody>
                    <a:bodyPr/>
                    <a:p>
                      <a:pPr algn="ctr"/>
                      <a:r>
                        <a:rPr dirty="0" sz="1800" lang="en-IN">
                          <a:latin typeface="Times New Roman" panose="02020603050405020304" pitchFamily="18" charset="0"/>
                          <a:cs typeface="Times New Roman" panose="02020603050405020304" pitchFamily="18" charset="0"/>
                        </a:rPr>
                        <a:t>Pavan Kumar Sattaru(2023), Rajasree </a:t>
                      </a:r>
                      <a:r>
                        <a:rPr dirty="0" sz="1800" lang="en-IN" err="1">
                          <a:latin typeface="Times New Roman" panose="02020603050405020304" pitchFamily="18" charset="0"/>
                          <a:cs typeface="Times New Roman" panose="02020603050405020304" pitchFamily="18" charset="0"/>
                        </a:rPr>
                        <a:t>Channagiri</a:t>
                      </a:r>
                      <a:r>
                        <a:rPr dirty="0" sz="1800" lang="en-IN">
                          <a:latin typeface="Times New Roman" panose="02020603050405020304" pitchFamily="18" charset="0"/>
                          <a:cs typeface="Times New Roman" panose="02020603050405020304" pitchFamily="18" charset="0"/>
                        </a:rPr>
                        <a:t>, Khasim vali </a:t>
                      </a:r>
                      <a:r>
                        <a:rPr dirty="0" sz="1800" lang="en-IN" err="1">
                          <a:latin typeface="Times New Roman" panose="02020603050405020304" pitchFamily="18" charset="0"/>
                          <a:cs typeface="Times New Roman" panose="02020603050405020304" pitchFamily="18" charset="0"/>
                        </a:rPr>
                        <a:t>Burugula</a:t>
                      </a:r>
                      <a:r>
                        <a:rPr dirty="0" sz="1800" lang="en-IN">
                          <a:latin typeface="Times New Roman" panose="02020603050405020304" pitchFamily="18" charset="0"/>
                          <a:cs typeface="Times New Roman" panose="02020603050405020304" pitchFamily="18" charset="0"/>
                        </a:rPr>
                        <a:t>. </a:t>
                      </a:r>
                      <a:endParaRPr dirty="0" lang="en-IN">
                        <a:latin typeface="Times New Roman" panose="02020603050405020304" pitchFamily="18" charset="0"/>
                        <a:cs typeface="Times New Roman" panose="02020603050405020304" pitchFamily="18" charset="0"/>
                      </a:endParaRPr>
                    </a:p>
                  </a:txBody>
                </a:tc>
                <a:tc>
                  <a:txBody>
                    <a:bodyPr/>
                    <a:p>
                      <a:pPr algn="ctr"/>
                      <a:r>
                        <a:rPr dirty="0" lang="en-GB">
                          <a:latin typeface="Times New Roman" panose="02020603050405020304" pitchFamily="18" charset="0"/>
                          <a:cs typeface="Times New Roman" panose="02020603050405020304" pitchFamily="18" charset="0"/>
                        </a:rPr>
                        <a:t>2023</a:t>
                      </a:r>
                      <a:endParaRPr dirty="0" lang="en-IN">
                        <a:latin typeface="Times New Roman" panose="02020603050405020304" pitchFamily="18" charset="0"/>
                        <a:cs typeface="Times New Roman" panose="02020603050405020304" pitchFamily="18" charset="0"/>
                      </a:endParaRPr>
                    </a:p>
                  </a:txBody>
                </a:tc>
                <a:tc>
                  <a:txBody>
                    <a:bodyPr/>
                    <a:p>
                      <a:pPr algn="ctr" defTabSz="914400" eaLnBrk="1" fontAlgn="auto" hangingPunct="1" indent="0" latinLnBrk="0" lvl="0" marL="0" marR="0" rtl="0">
                        <a:lnSpc>
                          <a:spcPct val="100000"/>
                        </a:lnSpc>
                        <a:spcBef>
                          <a:spcPts val="0"/>
                        </a:spcBef>
                        <a:spcAft>
                          <a:spcPts val="0"/>
                        </a:spcAft>
                        <a:buClrTx/>
                        <a:buSzTx/>
                        <a:buFontTx/>
                        <a:buNone/>
                      </a:pPr>
                      <a:r>
                        <a:rPr dirty="0" lang="en-GB">
                          <a:latin typeface="Times New Roman" panose="02020603050405020304" pitchFamily="18" charset="0"/>
                          <a:cs typeface="Times New Roman" panose="02020603050405020304" pitchFamily="18" charset="0"/>
                        </a:rPr>
                        <a:t>Multifactor access</a:t>
                      </a:r>
                      <a:endParaRPr dirty="0" lang="en-IN">
                        <a:latin typeface="Times New Roman" panose="02020603050405020304" pitchFamily="18" charset="0"/>
                        <a:cs typeface="Times New Roman" panose="02020603050405020304" pitchFamily="18" charset="0"/>
                      </a:endParaRPr>
                    </a:p>
                    <a:p>
                      <a:pPr algn="ctr"/>
                      <a:endParaRPr dirty="0" lang="en-IN">
                        <a:latin typeface="Times New Roman" panose="02020603050405020304" pitchFamily="18" charset="0"/>
                        <a:cs typeface="Times New Roman" panose="02020603050405020304" pitchFamily="18" charset="0"/>
                      </a:endParaRPr>
                    </a:p>
                  </a:txBody>
                </a:tc>
              </a:tr>
              <a:tr h="1184252">
                <a:tc>
                  <a:txBody>
                    <a:bodyPr/>
                    <a:p>
                      <a:pPr algn="ctr"/>
                      <a:r>
                        <a:rPr dirty="0" sz="1800" lang="en-IN">
                          <a:latin typeface="Times New Roman" panose="02020603050405020304" pitchFamily="18" charset="0"/>
                          <a:cs typeface="Times New Roman" panose="02020603050405020304" pitchFamily="18" charset="0"/>
                        </a:rPr>
                        <a:t>IoT-Integrated Door Sensor Solution for Enhancing Smart Home Security</a:t>
                      </a:r>
                      <a:endParaRPr dirty="0" lang="en-IN">
                        <a:latin typeface="Times New Roman" panose="02020603050405020304" pitchFamily="18" charset="0"/>
                        <a:cs typeface="Times New Roman" panose="02020603050405020304" pitchFamily="18" charset="0"/>
                      </a:endParaRPr>
                    </a:p>
                  </a:txBody>
                </a:tc>
                <a:tc>
                  <a:txBody>
                    <a:bodyPr/>
                    <a:p>
                      <a:pPr algn="ctr"/>
                      <a:r>
                        <a:rPr dirty="0" sz="1800" lang="en-IN">
                          <a:latin typeface="Times New Roman" panose="02020603050405020304" pitchFamily="18" charset="0"/>
                          <a:cs typeface="Times New Roman" panose="02020603050405020304" pitchFamily="18" charset="0"/>
                        </a:rPr>
                        <a:t>Ishwari Kakade, Renuka Wadetwar, Kritika </a:t>
                      </a:r>
                      <a:r>
                        <a:rPr dirty="0" sz="1800" lang="en-IN" err="1">
                          <a:latin typeface="Times New Roman" panose="02020603050405020304" pitchFamily="18" charset="0"/>
                          <a:cs typeface="Times New Roman" panose="02020603050405020304" pitchFamily="18" charset="0"/>
                        </a:rPr>
                        <a:t>Nimje</a:t>
                      </a:r>
                      <a:r>
                        <a:rPr dirty="0" sz="1800" lang="en-IN">
                          <a:latin typeface="Times New Roman" panose="02020603050405020304" pitchFamily="18" charset="0"/>
                          <a:cs typeface="Times New Roman" panose="02020603050405020304" pitchFamily="18" charset="0"/>
                        </a:rPr>
                        <a:t>.</a:t>
                      </a:r>
                      <a:endParaRPr dirty="0" lang="en-IN">
                        <a:latin typeface="Times New Roman" panose="02020603050405020304" pitchFamily="18" charset="0"/>
                        <a:cs typeface="Times New Roman" panose="02020603050405020304" pitchFamily="18" charset="0"/>
                      </a:endParaRPr>
                    </a:p>
                  </a:txBody>
                </a:tc>
                <a:tc>
                  <a:txBody>
                    <a:bodyPr/>
                    <a:p>
                      <a:pPr algn="ctr"/>
                      <a:r>
                        <a:rPr dirty="0" lang="en-GB">
                          <a:latin typeface="Times New Roman" panose="02020603050405020304" pitchFamily="18" charset="0"/>
                          <a:cs typeface="Times New Roman" panose="02020603050405020304" pitchFamily="18" charset="0"/>
                        </a:rPr>
                        <a:t>2024</a:t>
                      </a:r>
                      <a:endParaRPr dirty="0" lang="en-IN">
                        <a:latin typeface="Times New Roman" panose="02020603050405020304" pitchFamily="18" charset="0"/>
                        <a:cs typeface="Times New Roman" panose="02020603050405020304" pitchFamily="18" charset="0"/>
                      </a:endParaRPr>
                    </a:p>
                  </a:txBody>
                </a:tc>
                <a:tc>
                  <a:txBody>
                    <a:bodyPr/>
                    <a:p>
                      <a:pPr algn="ctr"/>
                      <a:r>
                        <a:rPr dirty="0" lang="en-GB">
                          <a:latin typeface="Times New Roman" panose="02020603050405020304" pitchFamily="18" charset="0"/>
                          <a:cs typeface="Times New Roman" panose="02020603050405020304" pitchFamily="18" charset="0"/>
                        </a:rPr>
                        <a:t>Web based platform</a:t>
                      </a:r>
                      <a:endParaRPr dirty="0" lang="en-IN">
                        <a:latin typeface="Times New Roman" panose="02020603050405020304" pitchFamily="18" charset="0"/>
                        <a:cs typeface="Times New Roman" panose="02020603050405020304" pitchFamily="18" charset="0"/>
                      </a:endParaRPr>
                    </a:p>
                  </a:txBody>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05" name="Rectangle 3"/>
          <p:cNvSpPr/>
          <p:nvPr/>
        </p:nvSpPr>
        <p:spPr>
          <a:xfrm>
            <a:off x="4333461" y="41133"/>
            <a:ext cx="7858539" cy="707886"/>
          </a:xfrm>
          <a:prstGeom prst="rect"/>
        </p:spPr>
        <p:txBody>
          <a:bodyPr wrap="square">
            <a:spAutoFit/>
          </a:bodyPr>
          <a:p>
            <a:pPr algn="ctr"/>
            <a:r>
              <a:rPr dirty="0" sz="4000" lang="en-US">
                <a:solidFill>
                  <a:srgbClr val="FFFF00"/>
                </a:solidFill>
              </a:rPr>
              <a:t>Problem Statement/ Motivation</a:t>
            </a:r>
            <a:endParaRPr b="1" dirty="0" sz="4000" lang="en-US">
              <a:solidFill>
                <a:srgbClr val="FFFF00"/>
              </a:solidFill>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endParaRPr>
          </a:p>
        </p:txBody>
      </p:sp>
      <p:sp>
        <p:nvSpPr>
          <p:cNvPr id="1048606" name="Footer Placeholder 1"/>
          <p:cNvSpPr txBox="1"/>
          <p:nvPr/>
        </p:nvSpPr>
        <p:spPr>
          <a:xfrm>
            <a:off x="4038600" y="6585285"/>
            <a:ext cx="4114800" cy="365125"/>
          </a:xfrm>
          <a:prstGeom prst="rect"/>
        </p:spPr>
        <p:txBody>
          <a:bodyPr anchor="ctr" bIns="45720" lIns="91440" rIns="91440" rtlCol="0" tIns="45720" vert="horz"/>
          <a:lstStyle>
            <a:defPPr>
              <a:defRPr lang="en-US"/>
            </a:defPPr>
            <a:lvl1pPr algn="ct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r>
              <a:rPr b="1" lang="en-US">
                <a:solidFill>
                  <a:schemeClr val="tx1"/>
                </a:solidFill>
                <a:latin typeface="Times New Roman" panose="02020603050405020304" pitchFamily="18" charset="0"/>
                <a:cs typeface="Times New Roman" panose="02020603050405020304" pitchFamily="18" charset="0"/>
              </a:rPr>
              <a:t>DAYANANDA SAGAR COLLEGE OF ENGINEERING</a:t>
            </a:r>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07" name="Slide Number Placeholder 2"/>
          <p:cNvSpPr txBox="1"/>
          <p:nvPr/>
        </p:nvSpPr>
        <p:spPr>
          <a:xfrm>
            <a:off x="8610600" y="6573497"/>
            <a:ext cx="2743200" cy="365125"/>
          </a:xfrm>
          <a:prstGeom prst="rect"/>
        </p:spPr>
        <p:txBody>
          <a:bodyPr anchor="ctr" bIns="45720" lIns="91440" rIns="91440" rtlCol="0" tIns="45720" vert="horz"/>
          <a:lstStyle>
            <a:defPPr>
              <a:defRPr lang="en-US"/>
            </a:defPPr>
            <a:lvl1pPr algn="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fld id="{46A87611-411F-4010-8D8B-06BA0FB9B814}" type="slidenum">
              <a:rPr b="1" lang="en-IN" smtClean="0">
                <a:solidFill>
                  <a:schemeClr val="tx1"/>
                </a:solidFill>
                <a:latin typeface="Times New Roman" panose="02020603050405020304" pitchFamily="18" charset="0"/>
                <a:cs typeface="Times New Roman" panose="02020603050405020304" pitchFamily="18" charset="0"/>
              </a:rPr>
              <a:t>5</a:t>
            </a:fld>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08" name="Content Placeholder 2"/>
          <p:cNvSpPr txBox="1"/>
          <p:nvPr/>
        </p:nvSpPr>
        <p:spPr>
          <a:xfrm>
            <a:off x="609600" y="1131570"/>
            <a:ext cx="10972800" cy="4302760"/>
          </a:xfrm>
          <a:prstGeom prst="rect"/>
        </p:spPr>
        <p:txBody>
          <a:bodyPr bIns="45720" lIns="91440" rIns="91440" rtlCol="0" tIns="45720" vert="horz">
            <a:normAutofit fontScale="91667" lnSpcReduction="20000"/>
          </a:bodyPr>
          <a:lstStyle>
            <a:lvl1pPr algn="ctr" defTabSz="914400" eaLnBrk="1" hangingPunct="1" indent="0" latinLnBrk="0" marL="0" rtl="0">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algn="ctr" defTabSz="914400" eaLnBrk="1" hangingPunct="1" indent="0" latinLnBrk="0" marL="457200" rtl="0">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algn="ctr" defTabSz="914400" eaLnBrk="1" hangingPunct="1" indent="0" latinLnBrk="0" marL="914400" rtl="0">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algn="ctr" defTabSz="914400" eaLnBrk="1" hangingPunct="1" indent="0" latinLnBrk="0" marL="1371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algn="ctr" defTabSz="914400" eaLnBrk="1" hangingPunct="1" indent="0" latinLnBrk="0" marL="18288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algn="ctr" defTabSz="914400" eaLnBrk="1" hangingPunct="1" indent="0" latinLnBrk="0" marL="22860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algn="ctr" defTabSz="914400" eaLnBrk="1" hangingPunct="1" indent="0" latinLnBrk="0" marL="27432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algn="ctr" defTabSz="914400" eaLnBrk="1" hangingPunct="1" indent="0" latinLnBrk="0" marL="32004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algn="ctr" defTabSz="914400" eaLnBrk="1" hangingPunct="1" indent="0" latinLnBrk="0" marL="3657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indent="-342900" marL="342900">
              <a:lnSpc>
                <a:spcPct val="15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Traditional security systems rely on single-factor authentication (password/key), making them vulnerable to unauthorized access.</a:t>
            </a:r>
          </a:p>
          <a:p>
            <a:pPr algn="just" indent="-342900" marL="342900">
              <a:lnSpc>
                <a:spcPct val="15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Existing systems lack real-time monitoring and do not provide immediate alerts to users during security breaches.</a:t>
            </a:r>
          </a:p>
          <a:p>
            <a:pPr algn="just" indent="-342900" marL="342900">
              <a:lnSpc>
                <a:spcPct val="15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Many smart security solutions do not include user-controlled access, reducing reliability in critical situations.</a:t>
            </a:r>
          </a:p>
          <a:p>
            <a:pPr algn="just" indent="-342900" marL="342900">
              <a:lnSpc>
                <a:spcPct val="15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There is a need for an integrated system that combines multi-factor authentication with real-time alerts and remote access control for improved security.</a:t>
            </a:r>
            <a:endParaRPr altLang="en-US" dirty="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09" name="Rectangle 3"/>
          <p:cNvSpPr/>
          <p:nvPr/>
        </p:nvSpPr>
        <p:spPr>
          <a:xfrm>
            <a:off x="4333461" y="41133"/>
            <a:ext cx="7858539" cy="707886"/>
          </a:xfrm>
          <a:prstGeom prst="rect"/>
        </p:spPr>
        <p:txBody>
          <a:bodyPr wrap="square">
            <a:spAutoFit/>
          </a:bodyPr>
          <a:p>
            <a:pPr algn="ctr"/>
            <a:r>
              <a:rPr dirty="0" sz="4000" lang="en-IN">
                <a:solidFill>
                  <a:srgbClr val="FFFF00"/>
                </a:solidFill>
              </a:rPr>
              <a:t>Technologies and Tools Used</a:t>
            </a:r>
            <a:endParaRPr b="1" dirty="0" sz="4000" lang="en-US">
              <a:solidFill>
                <a:srgbClr val="FFFF00"/>
              </a:solidFill>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endParaRPr>
          </a:p>
        </p:txBody>
      </p:sp>
      <p:sp>
        <p:nvSpPr>
          <p:cNvPr id="1048610" name="Footer Placeholder 1"/>
          <p:cNvSpPr txBox="1"/>
          <p:nvPr/>
        </p:nvSpPr>
        <p:spPr>
          <a:xfrm>
            <a:off x="4038600" y="6585285"/>
            <a:ext cx="4114800" cy="365125"/>
          </a:xfrm>
          <a:prstGeom prst="rect"/>
        </p:spPr>
        <p:txBody>
          <a:bodyPr anchor="ctr" bIns="45720" lIns="91440" rIns="91440" rtlCol="0" tIns="45720" vert="horz"/>
          <a:lstStyle>
            <a:defPPr>
              <a:defRPr lang="en-US"/>
            </a:defPPr>
            <a:lvl1pPr algn="ct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r>
              <a:rPr b="1" lang="en-US">
                <a:solidFill>
                  <a:schemeClr val="tx1"/>
                </a:solidFill>
                <a:latin typeface="Times New Roman" panose="02020603050405020304" pitchFamily="18" charset="0"/>
                <a:cs typeface="Times New Roman" panose="02020603050405020304" pitchFamily="18" charset="0"/>
              </a:rPr>
              <a:t>DAYANANDA SAGAR COLLEGE OF ENGINEERING</a:t>
            </a:r>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11" name="Slide Number Placeholder 2"/>
          <p:cNvSpPr txBox="1"/>
          <p:nvPr/>
        </p:nvSpPr>
        <p:spPr>
          <a:xfrm>
            <a:off x="8610600" y="6573497"/>
            <a:ext cx="2743200" cy="365125"/>
          </a:xfrm>
          <a:prstGeom prst="rect"/>
        </p:spPr>
        <p:txBody>
          <a:bodyPr anchor="ctr" bIns="45720" lIns="91440" rIns="91440" rtlCol="0" tIns="45720" vert="horz"/>
          <a:lstStyle>
            <a:defPPr>
              <a:defRPr lang="en-US"/>
            </a:defPPr>
            <a:lvl1pPr algn="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fld id="{46A87611-411F-4010-8D8B-06BA0FB9B814}" type="slidenum">
              <a:rPr b="1" lang="en-IN" smtClean="0">
                <a:solidFill>
                  <a:schemeClr val="tx1"/>
                </a:solidFill>
                <a:latin typeface="Times New Roman" panose="02020603050405020304" pitchFamily="18" charset="0"/>
                <a:cs typeface="Times New Roman" panose="02020603050405020304" pitchFamily="18" charset="0"/>
              </a:rPr>
              <a:t>6</a:t>
            </a:fld>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12" name="Content Placeholder 2"/>
          <p:cNvSpPr txBox="1"/>
          <p:nvPr/>
        </p:nvSpPr>
        <p:spPr>
          <a:xfrm>
            <a:off x="517236" y="1125912"/>
            <a:ext cx="10972800" cy="4455160"/>
          </a:xfrm>
          <a:prstGeom prst="rect"/>
        </p:spPr>
        <p:txBody>
          <a:bodyPr bIns="45720" lIns="91440" rIns="91440" rtlCol="0" tIns="45720" vert="horz">
            <a:normAutofit/>
          </a:bodyPr>
          <a:lstStyle>
            <a:lvl1pPr algn="ctr" defTabSz="914400" eaLnBrk="1" hangingPunct="1" indent="0" latinLnBrk="0" marL="0" rtl="0">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algn="ctr" defTabSz="914400" eaLnBrk="1" hangingPunct="1" indent="0" latinLnBrk="0" marL="457200" rtl="0">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algn="ctr" defTabSz="914400" eaLnBrk="1" hangingPunct="1" indent="0" latinLnBrk="0" marL="914400" rtl="0">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algn="ctr" defTabSz="914400" eaLnBrk="1" hangingPunct="1" indent="0" latinLnBrk="0" marL="1371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algn="ctr" defTabSz="914400" eaLnBrk="1" hangingPunct="1" indent="0" latinLnBrk="0" marL="18288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algn="ctr" defTabSz="914400" eaLnBrk="1" hangingPunct="1" indent="0" latinLnBrk="0" marL="22860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algn="ctr" defTabSz="914400" eaLnBrk="1" hangingPunct="1" indent="0" latinLnBrk="0" marL="27432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algn="ctr" defTabSz="914400" eaLnBrk="1" hangingPunct="1" indent="0" latinLnBrk="0" marL="32004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algn="ctr" defTabSz="914400" eaLnBrk="1" hangingPunct="1" indent="0" latinLnBrk="0" marL="3657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indent="-342900" marL="342900">
              <a:lnSpc>
                <a:spcPct val="15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Programming</a:t>
            </a:r>
            <a:r>
              <a:rPr b="1"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languages</a:t>
            </a:r>
            <a:r>
              <a:rPr b="1" dirty="0" lang="en-US">
                <a:latin typeface="Times New Roman" panose="02020603050405020304" pitchFamily="18" charset="0"/>
                <a:cs typeface="Times New Roman" panose="02020603050405020304" pitchFamily="18" charset="0"/>
              </a:rPr>
              <a:t> </a:t>
            </a:r>
            <a:r>
              <a:rPr dirty="0" lang="en-US">
                <a:latin typeface="Times New Roman" panose="02020603050405020304" pitchFamily="18" charset="0"/>
                <a:cs typeface="Times New Roman" panose="02020603050405020304" pitchFamily="18" charset="0"/>
              </a:rPr>
              <a:t>: The programming language used is C program. </a:t>
            </a:r>
          </a:p>
          <a:p>
            <a:pPr algn="just" indent="-342900" marL="342900">
              <a:lnSpc>
                <a:spcPct val="150000"/>
              </a:lnSpc>
              <a:buFont typeface="Arial" panose="020B0604020202020204" pitchFamily="34" charset="0"/>
              <a:buChar char="•"/>
            </a:pPr>
            <a:r>
              <a:rPr dirty="0" lang="en-US">
                <a:latin typeface="Times New Roman" panose="02020603050405020304" pitchFamily="18" charset="0"/>
                <a:cs typeface="Times New Roman" panose="02020603050405020304" pitchFamily="18" charset="0"/>
              </a:rPr>
              <a:t>Hardware : Keypad, finger print sensor, LCD display and ESP32- cam</a:t>
            </a:r>
            <a:r>
              <a:rPr dirty="0" lang="en-US" smtClean="0">
                <a:latin typeface="Times New Roman" panose="02020603050405020304" pitchFamily="18" charset="0"/>
                <a:cs typeface="Times New Roman" panose="02020603050405020304" pitchFamily="18" charset="0"/>
              </a:rPr>
              <a:t>.</a:t>
            </a:r>
          </a:p>
          <a:p>
            <a:pPr algn="just" indent="0" marL="0">
              <a:lnSpc>
                <a:spcPct val="150000"/>
              </a:lnSpc>
              <a:buNone/>
            </a:pPr>
            <a:endParaRPr dirty="0" lang="en-US"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3" name="Rectangle 3"/>
          <p:cNvSpPr/>
          <p:nvPr/>
        </p:nvSpPr>
        <p:spPr>
          <a:xfrm>
            <a:off x="4333461" y="41133"/>
            <a:ext cx="7858539" cy="707886"/>
          </a:xfrm>
          <a:prstGeom prst="rect"/>
        </p:spPr>
        <p:txBody>
          <a:bodyPr wrap="square">
            <a:spAutoFit/>
          </a:bodyPr>
          <a:p>
            <a:pPr algn="ctr"/>
            <a:r>
              <a:rPr dirty="0" sz="4000" lang="en-US">
                <a:solidFill>
                  <a:srgbClr val="FFFF00"/>
                </a:solidFill>
              </a:rPr>
              <a:t>Block Diagram of the project</a:t>
            </a:r>
            <a:endParaRPr b="1" dirty="0" sz="4000" lang="en-US">
              <a:solidFill>
                <a:srgbClr val="FFFF00"/>
              </a:solidFill>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endParaRPr>
          </a:p>
        </p:txBody>
      </p:sp>
      <p:sp>
        <p:nvSpPr>
          <p:cNvPr id="1048614" name="Footer Placeholder 1"/>
          <p:cNvSpPr txBox="1"/>
          <p:nvPr/>
        </p:nvSpPr>
        <p:spPr>
          <a:xfrm>
            <a:off x="4038600" y="6585285"/>
            <a:ext cx="4114800" cy="365125"/>
          </a:xfrm>
          <a:prstGeom prst="rect"/>
        </p:spPr>
        <p:txBody>
          <a:bodyPr anchor="ctr" bIns="45720" lIns="91440" rIns="91440" rtlCol="0" tIns="45720" vert="horz"/>
          <a:lstStyle>
            <a:defPPr>
              <a:defRPr lang="en-US"/>
            </a:defPPr>
            <a:lvl1pPr algn="ct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r>
              <a:rPr b="1" lang="en-US">
                <a:solidFill>
                  <a:schemeClr val="tx1"/>
                </a:solidFill>
                <a:latin typeface="Times New Roman" panose="02020603050405020304" pitchFamily="18" charset="0"/>
                <a:cs typeface="Times New Roman" panose="02020603050405020304" pitchFamily="18" charset="0"/>
              </a:rPr>
              <a:t>DAYANANDA SAGAR COLLEGE OF ENGINEERING</a:t>
            </a:r>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15" name="Slide Number Placeholder 2"/>
          <p:cNvSpPr txBox="1"/>
          <p:nvPr/>
        </p:nvSpPr>
        <p:spPr>
          <a:xfrm>
            <a:off x="8610600" y="6573497"/>
            <a:ext cx="2743200" cy="365125"/>
          </a:xfrm>
          <a:prstGeom prst="rect"/>
        </p:spPr>
        <p:txBody>
          <a:bodyPr anchor="ctr" bIns="45720" lIns="91440" rIns="91440" rtlCol="0" tIns="45720" vert="horz"/>
          <a:lstStyle>
            <a:defPPr>
              <a:defRPr lang="en-US"/>
            </a:defPPr>
            <a:lvl1pPr algn="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fld id="{46A87611-411F-4010-8D8B-06BA0FB9B814}" type="slidenum">
              <a:rPr b="1" lang="en-IN" smtClean="0">
                <a:solidFill>
                  <a:schemeClr val="tx1"/>
                </a:solidFill>
                <a:latin typeface="Times New Roman" panose="02020603050405020304" pitchFamily="18" charset="0"/>
                <a:cs typeface="Times New Roman" panose="02020603050405020304" pitchFamily="18" charset="0"/>
              </a:rPr>
              <a:t>7</a:t>
            </a:fld>
            <a:endParaRPr b="1" dirty="0" lang="en-IN">
              <a:solidFill>
                <a:schemeClr val="tx1"/>
              </a:solidFill>
              <a:latin typeface="Times New Roman" panose="02020603050405020304" pitchFamily="18" charset="0"/>
              <a:cs typeface="Times New Roman" panose="02020603050405020304" pitchFamily="18" charset="0"/>
            </a:endParaRPr>
          </a:p>
        </p:txBody>
      </p:sp>
      <p:pic>
        <p:nvPicPr>
          <p:cNvPr id="2097152" name="Picture 1"/>
          <p:cNvPicPr>
            <a:picLocks noChangeAspect="1"/>
          </p:cNvPicPr>
          <p:nvPr/>
        </p:nvPicPr>
        <p:blipFill rotWithShape="1">
          <a:blip xmlns:r="http://schemas.openxmlformats.org/officeDocument/2006/relationships" r:embed="rId1"/>
          <a:srcRect t="32419" b="1"/>
          <a:stretch>
            <a:fillRect/>
          </a:stretch>
        </p:blipFill>
        <p:spPr>
          <a:xfrm>
            <a:off x="867363" y="1376218"/>
            <a:ext cx="10291020" cy="4634661"/>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19" name="Footer Placeholder 1"/>
          <p:cNvSpPr>
            <a:spLocks noGrp="1"/>
          </p:cNvSpPr>
          <p:nvPr>
            <p:ph type="ftr" sz="quarter" idx="11"/>
          </p:nvPr>
        </p:nvSpPr>
        <p:spPr/>
        <p:txBody>
          <a:bodyPr/>
          <a:p>
            <a:r>
              <a:rPr lang="en-US" smtClean="0"/>
              <a:t>DAYANANDA SAGAR COLLEGE OF ENGINEERING</a:t>
            </a:r>
            <a:endParaRPr lang="en-IN"/>
          </a:p>
        </p:txBody>
      </p:sp>
      <p:sp>
        <p:nvSpPr>
          <p:cNvPr id="1048620" name="TextBox 3"/>
          <p:cNvSpPr txBox="1"/>
          <p:nvPr/>
        </p:nvSpPr>
        <p:spPr>
          <a:xfrm>
            <a:off x="457199" y="1062620"/>
            <a:ext cx="3833091" cy="400110"/>
          </a:xfrm>
          <a:prstGeom prst="rect"/>
          <a:noFill/>
        </p:spPr>
        <p:txBody>
          <a:bodyPr rtlCol="0" wrap="square">
            <a:spAutoFit/>
          </a:bodyPr>
          <a:p>
            <a:r>
              <a:rPr dirty="0" lang="en-US" smtClean="0"/>
              <a:t>1</a:t>
            </a:r>
            <a:r>
              <a:rPr dirty="0" sz="2000" lang="en-US" smtClean="0">
                <a:latin typeface="Times New Roman" panose="02020603050405020304" pitchFamily="18" charset="0"/>
                <a:cs typeface="Times New Roman" panose="02020603050405020304" pitchFamily="18" charset="0"/>
              </a:rPr>
              <a:t>. 230v AC to 5v DC conversion</a:t>
            </a:r>
            <a:endParaRPr dirty="0" sz="2000" lang="en-IN">
              <a:latin typeface="Times New Roman" panose="02020603050405020304" pitchFamily="18" charset="0"/>
              <a:cs typeface="Times New Roman" panose="02020603050405020304" pitchFamily="18" charset="0"/>
            </a:endParaRPr>
          </a:p>
        </p:txBody>
      </p:sp>
      <p:sp>
        <p:nvSpPr>
          <p:cNvPr id="1048621" name="Rectangle 4"/>
          <p:cNvSpPr/>
          <p:nvPr/>
        </p:nvSpPr>
        <p:spPr>
          <a:xfrm>
            <a:off x="5053991" y="0"/>
            <a:ext cx="5087536" cy="707886"/>
          </a:xfrm>
          <a:prstGeom prst="rect"/>
        </p:spPr>
        <p:txBody>
          <a:bodyPr wrap="square">
            <a:spAutoFit/>
          </a:bodyPr>
          <a:p>
            <a:r>
              <a:rPr dirty="0" sz="4000" lang="en-US">
                <a:solidFill>
                  <a:srgbClr val="FFFF00"/>
                </a:solidFill>
                <a:latin typeface="Times New Roman" panose="02020603050405020304" pitchFamily="18" charset="0"/>
                <a:cs typeface="Times New Roman" panose="02020603050405020304" pitchFamily="18" charset="0"/>
              </a:rPr>
              <a:t>Block Components</a:t>
            </a:r>
            <a:endParaRPr dirty="0" sz="4000" lang="en-IN">
              <a:solidFill>
                <a:srgbClr val="FFFF00"/>
              </a:solidFill>
              <a:latin typeface="Times New Roman" panose="02020603050405020304" pitchFamily="18" charset="0"/>
              <a:cs typeface="Times New Roman" panose="02020603050405020304" pitchFamily="18" charset="0"/>
            </a:endParaRPr>
          </a:p>
        </p:txBody>
      </p:sp>
      <p:pic>
        <p:nvPicPr>
          <p:cNvPr id="2097153" name="Picture 5"/>
          <p:cNvPicPr>
            <a:picLocks noChangeAspect="1"/>
          </p:cNvPicPr>
          <p:nvPr/>
        </p:nvPicPr>
        <p:blipFill rotWithShape="1">
          <a:blip xmlns:r="http://schemas.openxmlformats.org/officeDocument/2006/relationships" r:embed="rId1"/>
          <a:srcRect l="2974" t="47644" r="20370" b="19057"/>
          <a:stretch>
            <a:fillRect/>
          </a:stretch>
        </p:blipFill>
        <p:spPr>
          <a:xfrm>
            <a:off x="2373745" y="1514642"/>
            <a:ext cx="7885545" cy="2283612"/>
          </a:xfrm>
          <a:prstGeom prst="rect"/>
        </p:spPr>
      </p:pic>
      <p:sp>
        <p:nvSpPr>
          <p:cNvPr id="1048622" name="Rectangle 6"/>
          <p:cNvSpPr/>
          <p:nvPr/>
        </p:nvSpPr>
        <p:spPr>
          <a:xfrm>
            <a:off x="879763" y="3876973"/>
            <a:ext cx="9631218" cy="2400657"/>
          </a:xfrm>
          <a:prstGeom prst="rect"/>
        </p:spPr>
        <p:txBody>
          <a:bodyPr wrap="square">
            <a:spAutoFit/>
          </a:bodyPr>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The 230V AC supply is first reduced to a low AC voltage using a transformer.</a:t>
            </a:r>
          </a:p>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The rectifier converts this AC voltage into pulsating DC using diodes.</a:t>
            </a:r>
          </a:p>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A filter capacitor smoothens the pulsating DC by removing ripples.</a:t>
            </a:r>
          </a:p>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A voltage regulator (7805) converts it into a constant 5V DC.</a:t>
            </a:r>
          </a:p>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This stable 5V DC is used to power electronic devices like microcontrollers.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3" name="Footer Placeholder 1"/>
          <p:cNvSpPr>
            <a:spLocks noGrp="1"/>
          </p:cNvSpPr>
          <p:nvPr>
            <p:ph type="ftr" sz="quarter" idx="11"/>
          </p:nvPr>
        </p:nvSpPr>
        <p:spPr/>
        <p:txBody>
          <a:bodyPr/>
          <a:p>
            <a:r>
              <a:rPr lang="en-US" smtClean="0"/>
              <a:t>DAYANANDA SAGAR COLLEGE OF ENGINEERING</a:t>
            </a:r>
            <a:endParaRPr lang="en-IN"/>
          </a:p>
        </p:txBody>
      </p:sp>
      <p:sp>
        <p:nvSpPr>
          <p:cNvPr id="1048624" name="Slide Number Placeholder 2"/>
          <p:cNvSpPr>
            <a:spLocks noGrp="1"/>
          </p:cNvSpPr>
          <p:nvPr>
            <p:ph type="sldNum" sz="quarter" idx="12"/>
          </p:nvPr>
        </p:nvSpPr>
        <p:spPr/>
        <p:txBody>
          <a:bodyPr/>
          <a:p>
            <a:fld id="{46A87611-411F-4010-8D8B-06BA0FB9B814}" type="slidenum">
              <a:rPr lang="en-IN" smtClean="0"/>
              <a:t>9</a:t>
            </a:fld>
            <a:endParaRPr lang="en-IN"/>
          </a:p>
        </p:txBody>
      </p:sp>
      <p:pic>
        <p:nvPicPr>
          <p:cNvPr id="2097154" name="Picture 4" descr="The Internet of Things with ESP32"/>
          <p:cNvPicPr>
            <a:picLocks/>
          </p:cNvPicPr>
          <p:nvPr/>
        </p:nvPicPr>
        <p:blipFill rotWithShape="1">
          <a:blip xmlns:r="http://schemas.openxmlformats.org/officeDocument/2006/relationships" r:embed="rId1"/>
          <a:srcRect t="3912"/>
          <a:stretch>
            <a:fillRect/>
          </a:stretch>
        </p:blipFill>
        <p:spPr bwMode="auto">
          <a:xfrm>
            <a:off x="3066473" y="877454"/>
            <a:ext cx="5720080" cy="3041642"/>
          </a:xfrm>
          <a:prstGeom prst="rect"/>
          <a:noFill/>
          <a:ln>
            <a:noFill/>
          </a:ln>
        </p:spPr>
      </p:pic>
      <p:sp>
        <p:nvSpPr>
          <p:cNvPr id="1048625" name="TextBox 5"/>
          <p:cNvSpPr txBox="1"/>
          <p:nvPr/>
        </p:nvSpPr>
        <p:spPr>
          <a:xfrm>
            <a:off x="434109" y="877454"/>
            <a:ext cx="2632364" cy="701040"/>
          </a:xfrm>
          <a:prstGeom prst="rect"/>
          <a:noFill/>
        </p:spPr>
        <p:txBody>
          <a:bodyPr rtlCol="0" wrap="square">
            <a:spAutoFit/>
          </a:bodyPr>
          <a:p>
            <a:r>
              <a:rPr dirty="0" sz="2000" lang="en-US">
                <a:latin typeface="Times New Roman" panose="02020603050405020304" pitchFamily="18" charset="0"/>
                <a:cs typeface="Times New Roman" panose="02020603050405020304" pitchFamily="18" charset="0"/>
              </a:rPr>
              <a:t>2</a:t>
            </a:r>
            <a:r>
              <a:rPr dirty="0" sz="2000" lang="en-US" smtClean="0">
                <a:latin typeface="Times New Roman" panose="02020603050405020304" pitchFamily="18" charset="0"/>
                <a:cs typeface="Times New Roman" panose="02020603050405020304" pitchFamily="18" charset="0"/>
              </a:rPr>
              <a:t>.ESP-32 Architecture</a:t>
            </a:r>
            <a:endParaRPr dirty="0" sz="2000" lang="en-IN">
              <a:latin typeface="Times New Roman" panose="02020603050405020304" pitchFamily="18" charset="0"/>
              <a:cs typeface="Times New Roman" panose="02020603050405020304" pitchFamily="18" charset="0"/>
            </a:endParaRPr>
          </a:p>
        </p:txBody>
      </p:sp>
      <p:sp>
        <p:nvSpPr>
          <p:cNvPr id="1048626" name="Rectangle 6"/>
          <p:cNvSpPr/>
          <p:nvPr/>
        </p:nvSpPr>
        <p:spPr>
          <a:xfrm>
            <a:off x="-105295" y="3816175"/>
            <a:ext cx="11379200" cy="2529840"/>
          </a:xfrm>
          <a:prstGeom prst="rect"/>
        </p:spPr>
        <p:txBody>
          <a:bodyPr wrap="square">
            <a:spAutoFit/>
          </a:bodyPr>
          <a:p>
            <a:pPr algn="just" marL="457200">
              <a:lnSpc>
                <a:spcPct val="150000"/>
              </a:lnSpc>
              <a:spcBef>
                <a:spcPts val="16800"/>
              </a:spcBef>
              <a:spcAft>
                <a:spcPts val="1000"/>
              </a:spcAft>
            </a:pPr>
            <a:r>
              <a:rPr dirty="0" sz="1400" lang="en-US">
                <a:latin typeface="Times New Roman" panose="02020603050405020304" pitchFamily="18" charset="0"/>
                <a:ea typeface="Calibri" panose="020F0502020204030204" pitchFamily="34" charset="0"/>
              </a:rPr>
              <a:t>The ESP32 a highly </a:t>
            </a:r>
            <a:r>
              <a:rPr dirty="0" sz="1400" lang="en-US" smtClean="0">
                <a:latin typeface="Times New Roman" panose="02020603050405020304" pitchFamily="18" charset="0"/>
                <a:ea typeface="Calibri" panose="020F0502020204030204" pitchFamily="34" charset="0"/>
              </a:rPr>
              <a:t>used </a:t>
            </a:r>
            <a:r>
              <a:rPr dirty="0" sz="1400" lang="en-US">
                <a:latin typeface="Times New Roman" panose="02020603050405020304" pitchFamily="18" charset="0"/>
                <a:ea typeface="Calibri" panose="020F0502020204030204" pitchFamily="34" charset="0"/>
              </a:rPr>
              <a:t>in </a:t>
            </a:r>
            <a:r>
              <a:rPr dirty="0" sz="1400" lang="en-US" smtClean="0">
                <a:latin typeface="Times New Roman" panose="02020603050405020304" pitchFamily="18" charset="0"/>
                <a:ea typeface="Calibri" panose="020F0502020204030204" pitchFamily="34" charset="0"/>
              </a:rPr>
              <a:t>IOT </a:t>
            </a:r>
            <a:r>
              <a:rPr dirty="0" sz="1400" lang="en-US">
                <a:latin typeface="Times New Roman" panose="02020603050405020304" pitchFamily="18" charset="0"/>
                <a:ea typeface="Calibri" panose="020F0502020204030204" pitchFamily="34" charset="0"/>
              </a:rPr>
              <a:t>applications. At its core, it contains a dual- or single-core </a:t>
            </a:r>
            <a:r>
              <a:rPr dirty="0" sz="1400" lang="en-US" err="1">
                <a:latin typeface="Times New Roman" panose="02020603050405020304" pitchFamily="18" charset="0"/>
                <a:ea typeface="Calibri" panose="020F0502020204030204" pitchFamily="34" charset="0"/>
              </a:rPr>
              <a:t>Xtensa</a:t>
            </a:r>
            <a:r>
              <a:rPr dirty="0" sz="1400" lang="en-US">
                <a:latin typeface="Times New Roman" panose="02020603050405020304" pitchFamily="18" charset="0"/>
                <a:ea typeface="Calibri" panose="020F0502020204030204" pitchFamily="34" charset="0"/>
              </a:rPr>
              <a:t> 32-bit LX6 microprocessor along with ROM and SRAM, which handle program execution and data storage. It supports multiple communication interfaces like SPI, I²C, I²S, UART, CAN, and Ethernet, allowing it to connect easily with sensors and external devices. The chip has built-in Wi-Fi and Bluetooth modules, consisting of MAC, baseband, and RF sections (receiver, transmitter, clock generator, and antenna switch), enabling wireless communication. It also includes cryptographic hardware acceleration such as AES, RSA, SHA, and RNG for secure data processing. For analog and sensing tasks, it provides peripherals like ADC, DAC, temperature sensor, touch sensors, and PWM. Additionally, the RTC and low-power subsystem with PMU and an ultra-low-power (ULP) co-processor helps in power saving during sleep modes. Overall, this architecture makes the ESP32 a powerful, compact, and energy-efficient controller for embedded and </a:t>
            </a:r>
            <a:r>
              <a:rPr dirty="0" sz="1400" lang="en-US" err="1">
                <a:latin typeface="Times New Roman" panose="02020603050405020304" pitchFamily="18" charset="0"/>
                <a:ea typeface="Calibri" panose="020F0502020204030204" pitchFamily="34" charset="0"/>
              </a:rPr>
              <a:t>IoT</a:t>
            </a:r>
            <a:r>
              <a:rPr dirty="0" sz="1400" lang="en-US">
                <a:latin typeface="Times New Roman" panose="02020603050405020304" pitchFamily="18" charset="0"/>
                <a:ea typeface="Calibri" panose="020F0502020204030204" pitchFamily="34" charset="0"/>
              </a:rPr>
              <a:t> systems.</a:t>
            </a:r>
            <a:endParaRPr dirty="0" sz="1400" lang="en-IN">
              <a:effectLst/>
              <a:latin typeface="Calibri" panose="020F0502020204030204" pitchFamily="34" charset="0"/>
              <a:ea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27" name="Footer Placeholder 1"/>
          <p:cNvSpPr>
            <a:spLocks noGrp="1"/>
          </p:cNvSpPr>
          <p:nvPr>
            <p:ph type="ftr" sz="quarter" idx="11"/>
          </p:nvPr>
        </p:nvSpPr>
        <p:spPr/>
        <p:txBody>
          <a:bodyPr/>
          <a:p>
            <a:r>
              <a:rPr lang="en-US" smtClean="0"/>
              <a:t>DAYANANDA SAGAR COLLEGE OF ENGINEERING</a:t>
            </a:r>
            <a:endParaRPr lang="en-IN"/>
          </a:p>
        </p:txBody>
      </p:sp>
      <p:sp>
        <p:nvSpPr>
          <p:cNvPr id="1048628" name="Slide Number Placeholder 2"/>
          <p:cNvSpPr>
            <a:spLocks noGrp="1"/>
          </p:cNvSpPr>
          <p:nvPr>
            <p:ph type="sldNum" sz="quarter" idx="12"/>
          </p:nvPr>
        </p:nvSpPr>
        <p:spPr/>
        <p:txBody>
          <a:bodyPr/>
          <a:p>
            <a:fld id="{46A87611-411F-4010-8D8B-06BA0FB9B814}" type="slidenum">
              <a:rPr lang="en-IN" smtClean="0"/>
              <a:t>10</a:t>
            </a:fld>
            <a:endParaRPr lang="en-IN"/>
          </a:p>
        </p:txBody>
      </p:sp>
      <p:sp>
        <p:nvSpPr>
          <p:cNvPr id="1048629" name="TextBox 3"/>
          <p:cNvSpPr txBox="1"/>
          <p:nvPr/>
        </p:nvSpPr>
        <p:spPr>
          <a:xfrm>
            <a:off x="498764" y="1126836"/>
            <a:ext cx="3870036" cy="369332"/>
          </a:xfrm>
          <a:prstGeom prst="rect"/>
          <a:noFill/>
        </p:spPr>
        <p:txBody>
          <a:bodyPr rtlCol="0" wrap="square">
            <a:spAutoFit/>
          </a:bodyPr>
          <a:p>
            <a:r>
              <a:rPr dirty="0" lang="en-US"/>
              <a:t>3</a:t>
            </a:r>
            <a:r>
              <a:rPr dirty="0" lang="en-US" smtClean="0"/>
              <a:t>.Fingerprint sensor</a:t>
            </a:r>
            <a:endParaRPr dirty="0" lang="en-IN"/>
          </a:p>
        </p:txBody>
      </p:sp>
      <p:pic>
        <p:nvPicPr>
          <p:cNvPr id="2097155" name="Picture 4"/>
          <p:cNvPicPr>
            <a:picLocks noChangeAspect="1"/>
          </p:cNvPicPr>
          <p:nvPr/>
        </p:nvPicPr>
        <p:blipFill rotWithShape="1">
          <a:blip xmlns:r="http://schemas.openxmlformats.org/officeDocument/2006/relationships" r:embed="rId1"/>
          <a:srcRect b="3486"/>
          <a:stretch>
            <a:fillRect/>
          </a:stretch>
        </p:blipFill>
        <p:spPr>
          <a:xfrm>
            <a:off x="2433782" y="996912"/>
            <a:ext cx="7059010" cy="1884833"/>
          </a:xfrm>
          <a:prstGeom prst="rect"/>
        </p:spPr>
      </p:pic>
      <p:sp>
        <p:nvSpPr>
          <p:cNvPr id="1048630" name="Rectangle 5"/>
          <p:cNvSpPr/>
          <p:nvPr/>
        </p:nvSpPr>
        <p:spPr>
          <a:xfrm>
            <a:off x="498764" y="3303746"/>
            <a:ext cx="10233891" cy="2374393"/>
          </a:xfrm>
          <a:prstGeom prst="rect"/>
        </p:spPr>
        <p:txBody>
          <a:bodyPr wrap="square">
            <a:spAutoFit/>
          </a:bodyPr>
          <a:p>
            <a:pPr algn="just">
              <a:lnSpc>
                <a:spcPct val="107000"/>
              </a:lnSpc>
              <a:spcAft>
                <a:spcPts val="800"/>
              </a:spcAft>
            </a:pPr>
            <a:r>
              <a:rPr dirty="0" lang="en-IN">
                <a:latin typeface="Times New Roman" panose="02020603050405020304" pitchFamily="18" charset="0"/>
                <a:ea typeface="Calibri" panose="020F0502020204030204" pitchFamily="34" charset="0"/>
                <a:cs typeface="Tunga"/>
              </a:rPr>
              <a:t>An optical sensor works by shining light from a source onto the finger placed on a glass surface. Due to the principle of Total Internal Reflection, light behaves differently at the fingerprint’s ridges and valleys—ridges absorb or scatter light while valleys reflect it more effectively. A detector captures this pattern of reflected light, producing a bright and dark image that represents the fingerprint. In contrast, a capacitive sensor uses an array of tiny electrodes to measure electrical changes. When a finger is placed on the sensor, the ridges come closer to the electrodes and create higher capacitance, while the valleys remain slightly farther and produce lower capacitance. These variations in capacitance are measured and converted into a digital image of the fingerprint. </a:t>
            </a:r>
            <a:endParaRPr dirty="0" sz="1600" lang="en-IN">
              <a:effectLst/>
              <a:latin typeface="Calibri" panose="020F0502020204030204" pitchFamily="34" charset="0"/>
              <a:ea typeface="Calibri" panose="020F0502020204030204" pitchFamily="34" charset="0"/>
              <a:cs typeface="Tung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31" name="Footer Placeholder 1"/>
          <p:cNvSpPr>
            <a:spLocks noGrp="1"/>
          </p:cNvSpPr>
          <p:nvPr>
            <p:ph type="ftr" sz="quarter" idx="11"/>
          </p:nvPr>
        </p:nvSpPr>
        <p:spPr/>
        <p:txBody>
          <a:bodyPr/>
          <a:p>
            <a:r>
              <a:rPr lang="en-US" smtClean="0"/>
              <a:t>DAYANANDA SAGAR COLLEGE OF ENGINEERING</a:t>
            </a:r>
            <a:endParaRPr lang="en-IN"/>
          </a:p>
        </p:txBody>
      </p:sp>
      <p:sp>
        <p:nvSpPr>
          <p:cNvPr id="1048632" name="Slide Number Placeholder 2"/>
          <p:cNvSpPr>
            <a:spLocks noGrp="1"/>
          </p:cNvSpPr>
          <p:nvPr>
            <p:ph type="sldNum" sz="quarter" idx="12"/>
          </p:nvPr>
        </p:nvSpPr>
        <p:spPr/>
        <p:txBody>
          <a:bodyPr/>
          <a:p>
            <a:fld id="{46A87611-411F-4010-8D8B-06BA0FB9B814}" type="slidenum">
              <a:rPr lang="en-IN" smtClean="0"/>
              <a:t>11</a:t>
            </a:fld>
            <a:endParaRPr lang="en-IN"/>
          </a:p>
        </p:txBody>
      </p:sp>
      <p:sp>
        <p:nvSpPr>
          <p:cNvPr id="1048633" name="TextBox 3"/>
          <p:cNvSpPr txBox="1"/>
          <p:nvPr/>
        </p:nvSpPr>
        <p:spPr>
          <a:xfrm>
            <a:off x="748145" y="1357745"/>
            <a:ext cx="1199559" cy="400110"/>
          </a:xfrm>
          <a:prstGeom prst="rect"/>
          <a:noFill/>
        </p:spPr>
        <p:txBody>
          <a:bodyPr rtlCol="0" wrap="none">
            <a:spAutoFit/>
          </a:bodyPr>
          <a:p>
            <a:r>
              <a:rPr dirty="0" sz="2000" lang="en-US" smtClean="0"/>
              <a:t>4. Keypad</a:t>
            </a:r>
            <a:endParaRPr dirty="0" sz="2000" lang="en-IN"/>
          </a:p>
        </p:txBody>
      </p:sp>
      <p:pic>
        <p:nvPicPr>
          <p:cNvPr id="2097156" name="Picture 6"/>
          <p:cNvPicPr>
            <a:picLocks noChangeAspect="1"/>
          </p:cNvPicPr>
          <p:nvPr/>
        </p:nvPicPr>
        <p:blipFill rotWithShape="1">
          <a:blip xmlns:r="http://schemas.openxmlformats.org/officeDocument/2006/relationships" r:embed="rId1"/>
          <a:srcRect l="1714" t="2468" r="1330"/>
          <a:stretch>
            <a:fillRect/>
          </a:stretch>
        </p:blipFill>
        <p:spPr>
          <a:xfrm>
            <a:off x="7278255" y="1117599"/>
            <a:ext cx="4331854" cy="2770909"/>
          </a:xfrm>
          <a:prstGeom prst="rect"/>
        </p:spPr>
      </p:pic>
      <p:pic>
        <p:nvPicPr>
          <p:cNvPr id="2097157" name="Picture 7"/>
          <p:cNvPicPr>
            <a:picLocks noChangeAspect="1"/>
          </p:cNvPicPr>
          <p:nvPr/>
        </p:nvPicPr>
        <p:blipFill rotWithShape="1">
          <a:blip xmlns:r="http://schemas.openxmlformats.org/officeDocument/2006/relationships" r:embed="rId2" cstate="print"/>
          <a:srcRect l="3056" t="3245" r="3662" b="2665"/>
          <a:stretch>
            <a:fillRect/>
          </a:stretch>
        </p:blipFill>
        <p:spPr>
          <a:xfrm>
            <a:off x="2350071" y="1201779"/>
            <a:ext cx="4525817" cy="3047527"/>
          </a:xfrm>
          <a:prstGeom prst="rect"/>
        </p:spPr>
      </p:pic>
      <p:sp>
        <p:nvSpPr>
          <p:cNvPr id="1048634" name="Rectangle 8"/>
          <p:cNvSpPr/>
          <p:nvPr/>
        </p:nvSpPr>
        <p:spPr>
          <a:xfrm>
            <a:off x="600365" y="4360999"/>
            <a:ext cx="10501744" cy="1883657"/>
          </a:xfrm>
          <a:prstGeom prst="rect"/>
        </p:spPr>
        <p:txBody>
          <a:bodyPr wrap="square">
            <a:spAutoFit/>
          </a:bodyPr>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The keypad is arranged in a 4×4 matrix with rows (X1–X4) and columns (Y1–Y4).</a:t>
            </a:r>
          </a:p>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Each key lies at the intersection of one row and one column.</a:t>
            </a:r>
          </a:p>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When a key is pressed, it connects a specific row and column.</a:t>
            </a:r>
          </a:p>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The microcontroller scans rows and columns to detect which key is pressed.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35" name="Footer Placeholder 1"/>
          <p:cNvSpPr>
            <a:spLocks noGrp="1"/>
          </p:cNvSpPr>
          <p:nvPr>
            <p:ph type="ftr" sz="quarter" idx="11"/>
          </p:nvPr>
        </p:nvSpPr>
        <p:spPr/>
        <p:txBody>
          <a:bodyPr/>
          <a:p>
            <a:r>
              <a:rPr lang="en-US" smtClean="0"/>
              <a:t>DAYANANDA SAGAR COLLEGE OF ENGINEERING</a:t>
            </a:r>
            <a:endParaRPr lang="en-IN"/>
          </a:p>
        </p:txBody>
      </p:sp>
      <p:sp>
        <p:nvSpPr>
          <p:cNvPr id="1048636" name="Slide Number Placeholder 2"/>
          <p:cNvSpPr>
            <a:spLocks noGrp="1"/>
          </p:cNvSpPr>
          <p:nvPr>
            <p:ph type="sldNum" sz="quarter" idx="12"/>
          </p:nvPr>
        </p:nvSpPr>
        <p:spPr/>
        <p:txBody>
          <a:bodyPr/>
          <a:p>
            <a:fld id="{46A87611-411F-4010-8D8B-06BA0FB9B814}" type="slidenum">
              <a:rPr lang="en-IN" smtClean="0"/>
              <a:t>12</a:t>
            </a:fld>
            <a:endParaRPr lang="en-IN"/>
          </a:p>
        </p:txBody>
      </p:sp>
      <p:sp>
        <p:nvSpPr>
          <p:cNvPr id="1048637" name="TextBox 3"/>
          <p:cNvSpPr txBox="1"/>
          <p:nvPr/>
        </p:nvSpPr>
        <p:spPr>
          <a:xfrm>
            <a:off x="480291" y="1163782"/>
            <a:ext cx="4498109" cy="400110"/>
          </a:xfrm>
          <a:prstGeom prst="rect"/>
          <a:noFill/>
        </p:spPr>
        <p:txBody>
          <a:bodyPr rtlCol="0" wrap="square">
            <a:spAutoFit/>
          </a:bodyPr>
          <a:p>
            <a:r>
              <a:rPr dirty="0" sz="2000" lang="en-US" smtClean="0">
                <a:latin typeface="Times New Roman" panose="02020603050405020304" pitchFamily="18" charset="0"/>
                <a:cs typeface="Times New Roman" panose="02020603050405020304" pitchFamily="18" charset="0"/>
              </a:rPr>
              <a:t>5. LCD display</a:t>
            </a:r>
            <a:endParaRPr dirty="0" sz="2000" lang="en-IN">
              <a:latin typeface="Times New Roman" panose="02020603050405020304" pitchFamily="18" charset="0"/>
              <a:cs typeface="Times New Roman" panose="02020603050405020304" pitchFamily="18" charset="0"/>
            </a:endParaRPr>
          </a:p>
        </p:txBody>
      </p:sp>
      <p:sp>
        <p:nvSpPr>
          <p:cNvPr id="1048638" name="Rectangle 4"/>
          <p:cNvSpPr/>
          <p:nvPr/>
        </p:nvSpPr>
        <p:spPr>
          <a:xfrm>
            <a:off x="637309" y="4000954"/>
            <a:ext cx="9966036" cy="2540888"/>
          </a:xfrm>
          <a:prstGeom prst="rect"/>
        </p:spPr>
        <p:txBody>
          <a:bodyPr wrap="square">
            <a:spAutoFit/>
          </a:bodyPr>
          <a:p>
            <a:pPr indent="-285750" marL="285750">
              <a:lnSpc>
                <a:spcPct val="150000"/>
              </a:lnSpc>
              <a:buFont typeface="Arial" panose="020B0604020202020204" pitchFamily="34" charset="0"/>
              <a:buChar char="•"/>
            </a:pPr>
            <a:r>
              <a:rPr dirty="0" lang="en-IN">
                <a:latin typeface="Times New Roman" panose="02020603050405020304" pitchFamily="18" charset="0"/>
                <a:ea typeface="Times New Roman" panose="02020603050405020304" pitchFamily="18" charset="0"/>
              </a:rPr>
              <a:t>An LCD works based on the property of liquid crystals to control light. </a:t>
            </a:r>
            <a:endParaRPr dirty="0" lang="en-IN" smtClean="0">
              <a:latin typeface="Times New Roman" panose="02020603050405020304" pitchFamily="18" charset="0"/>
              <a:ea typeface="Times New Roman" panose="02020603050405020304" pitchFamily="18" charset="0"/>
            </a:endParaRPr>
          </a:p>
          <a:p>
            <a:pPr indent="-285750" marL="285750">
              <a:lnSpc>
                <a:spcPct val="150000"/>
              </a:lnSpc>
              <a:buFont typeface="Arial" panose="020B0604020202020204" pitchFamily="34" charset="0"/>
              <a:buChar char="•"/>
            </a:pPr>
            <a:r>
              <a:rPr dirty="0" lang="en-IN" smtClean="0">
                <a:latin typeface="Times New Roman" panose="02020603050405020304" pitchFamily="18" charset="0"/>
                <a:ea typeface="Times New Roman" panose="02020603050405020304" pitchFamily="18" charset="0"/>
              </a:rPr>
              <a:t>In </a:t>
            </a:r>
            <a:r>
              <a:rPr dirty="0" lang="en-IN">
                <a:latin typeface="Times New Roman" panose="02020603050405020304" pitchFamily="18" charset="0"/>
                <a:ea typeface="Times New Roman" panose="02020603050405020304" pitchFamily="18" charset="0"/>
              </a:rPr>
              <a:t>modules like the 16x2 LCD Display, a backlight provides a constant light source, and the liquid crystal layer is placed between two polarizing filters. </a:t>
            </a:r>
            <a:endParaRPr dirty="0" lang="en-IN" smtClean="0">
              <a:latin typeface="Times New Roman" panose="02020603050405020304" pitchFamily="18" charset="0"/>
              <a:ea typeface="Times New Roman" panose="02020603050405020304" pitchFamily="18" charset="0"/>
            </a:endParaRPr>
          </a:p>
          <a:p>
            <a:pPr indent="-285750" marL="285750">
              <a:lnSpc>
                <a:spcPct val="150000"/>
              </a:lnSpc>
              <a:buFont typeface="Arial" panose="020B0604020202020204" pitchFamily="34" charset="0"/>
              <a:buChar char="•"/>
            </a:pPr>
            <a:r>
              <a:rPr dirty="0" lang="en-IN" smtClean="0">
                <a:latin typeface="Times New Roman" panose="02020603050405020304" pitchFamily="18" charset="0"/>
                <a:ea typeface="Times New Roman" panose="02020603050405020304" pitchFamily="18" charset="0"/>
              </a:rPr>
              <a:t>When </a:t>
            </a:r>
            <a:r>
              <a:rPr dirty="0" lang="en-IN">
                <a:latin typeface="Times New Roman" panose="02020603050405020304" pitchFamily="18" charset="0"/>
                <a:ea typeface="Times New Roman" panose="02020603050405020304" pitchFamily="18" charset="0"/>
              </a:rPr>
              <a:t>no voltage is applied, the crystals allow light to pass through, making the screen appear bright. When an electric voltage is applied, the orientation of the crystals changes, blocking light and forming dark characters on the screen. </a:t>
            </a:r>
            <a:endParaRPr dirty="0" lang="en-IN"/>
          </a:p>
        </p:txBody>
      </p:sp>
      <p:pic>
        <p:nvPicPr>
          <p:cNvPr id="2097158" name="Picture 6" descr="16X2 LCD Display"/>
          <p:cNvPicPr>
            <a:picLocks/>
          </p:cNvPicPr>
          <p:nvPr/>
        </p:nvPicPr>
        <p:blipFill>
          <a:blip xmlns:r="http://schemas.openxmlformats.org/officeDocument/2006/relationships" r:embed="rId1" cstate="print"/>
          <a:srcRect/>
          <a:stretch>
            <a:fillRect/>
          </a:stretch>
        </p:blipFill>
        <p:spPr>
          <a:xfrm rot="5400000">
            <a:off x="2628694" y="466987"/>
            <a:ext cx="2604253" cy="3997844"/>
          </a:xfrm>
          <a:prstGeom prst="rect"/>
          <a:noFill/>
          <a:ln>
            <a:noFill/>
          </a:ln>
        </p:spPr>
      </p:pic>
      <p:pic>
        <p:nvPicPr>
          <p:cNvPr id="2097159" name="Picture 7"/>
          <p:cNvPicPr>
            <a:picLocks noChangeAspect="1"/>
          </p:cNvPicPr>
          <p:nvPr/>
        </p:nvPicPr>
        <p:blipFill rotWithShape="1">
          <a:blip xmlns:r="http://schemas.openxmlformats.org/officeDocument/2006/relationships" r:embed="rId2" cstate="print"/>
          <a:srcRect l="1061" t="5599" r="5076" b="23912"/>
          <a:stretch>
            <a:fillRect/>
          </a:stretch>
        </p:blipFill>
        <p:spPr>
          <a:xfrm>
            <a:off x="5429922" y="1480888"/>
            <a:ext cx="5923878" cy="2438400"/>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39" name="Footer Placeholder 1"/>
          <p:cNvSpPr>
            <a:spLocks noGrp="1"/>
          </p:cNvSpPr>
          <p:nvPr>
            <p:ph type="ftr" sz="quarter" idx="11"/>
          </p:nvPr>
        </p:nvSpPr>
        <p:spPr/>
        <p:txBody>
          <a:bodyPr/>
          <a:p>
            <a:r>
              <a:rPr lang="en-US" smtClean="0"/>
              <a:t>DAYANANDA SAGAR COLLEGE OF ENGINEERING</a:t>
            </a:r>
            <a:endParaRPr lang="en-IN"/>
          </a:p>
        </p:txBody>
      </p:sp>
      <p:sp>
        <p:nvSpPr>
          <p:cNvPr id="1048640" name="Slide Number Placeholder 2"/>
          <p:cNvSpPr>
            <a:spLocks noGrp="1"/>
          </p:cNvSpPr>
          <p:nvPr>
            <p:ph type="sldNum" sz="quarter" idx="12"/>
          </p:nvPr>
        </p:nvSpPr>
        <p:spPr/>
        <p:txBody>
          <a:bodyPr/>
          <a:p>
            <a:fld id="{46A87611-411F-4010-8D8B-06BA0FB9B814}" type="slidenum">
              <a:rPr lang="en-IN" smtClean="0"/>
              <a:t>13</a:t>
            </a:fld>
            <a:endParaRPr lang="en-IN"/>
          </a:p>
        </p:txBody>
      </p:sp>
      <p:sp>
        <p:nvSpPr>
          <p:cNvPr id="1048641" name="TextBox 3"/>
          <p:cNvSpPr txBox="1"/>
          <p:nvPr/>
        </p:nvSpPr>
        <p:spPr>
          <a:xfrm>
            <a:off x="554181" y="1062182"/>
            <a:ext cx="3066473" cy="400110"/>
          </a:xfrm>
          <a:prstGeom prst="rect"/>
          <a:noFill/>
        </p:spPr>
        <p:txBody>
          <a:bodyPr rtlCol="0" wrap="square">
            <a:spAutoFit/>
          </a:bodyPr>
          <a:p>
            <a:r>
              <a:rPr dirty="0" sz="2000" lang="en-US" smtClean="0">
                <a:latin typeface="Times New Roman" panose="02020603050405020304" pitchFamily="18" charset="0"/>
                <a:cs typeface="Times New Roman" panose="02020603050405020304" pitchFamily="18" charset="0"/>
              </a:rPr>
              <a:t>6. ESP-32 Cam</a:t>
            </a:r>
            <a:endParaRPr dirty="0" sz="2000" lang="en-IN">
              <a:latin typeface="Times New Roman" panose="02020603050405020304" pitchFamily="18" charset="0"/>
              <a:cs typeface="Times New Roman" panose="02020603050405020304" pitchFamily="18" charset="0"/>
            </a:endParaRPr>
          </a:p>
        </p:txBody>
      </p:sp>
      <p:pic>
        <p:nvPicPr>
          <p:cNvPr id="2097160" name="Picture 4"/>
          <p:cNvPicPr>
            <a:picLocks noChangeAspect="1"/>
          </p:cNvPicPr>
          <p:nvPr/>
        </p:nvPicPr>
        <p:blipFill rotWithShape="1">
          <a:blip xmlns:r="http://schemas.openxmlformats.org/officeDocument/2006/relationships" r:embed="rId1" cstate="print"/>
          <a:srcRect l="9797" t="9292" r="6995" b="15691"/>
          <a:stretch>
            <a:fillRect/>
          </a:stretch>
        </p:blipFill>
        <p:spPr>
          <a:xfrm>
            <a:off x="3094182" y="942109"/>
            <a:ext cx="4442691" cy="3403541"/>
          </a:xfrm>
          <a:prstGeom prst="rect"/>
        </p:spPr>
      </p:pic>
      <p:sp>
        <p:nvSpPr>
          <p:cNvPr id="1048642" name="Rectangle 5"/>
          <p:cNvSpPr/>
          <p:nvPr/>
        </p:nvSpPr>
        <p:spPr>
          <a:xfrm>
            <a:off x="685799" y="4566154"/>
            <a:ext cx="10508673" cy="1477328"/>
          </a:xfrm>
          <a:prstGeom prst="rect"/>
        </p:spPr>
        <p:txBody>
          <a:bodyPr wrap="square">
            <a:spAutoFit/>
          </a:bodyPr>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Captures images using the OV2640 camera sensor and sends data to the ESP32 microcontroller.</a:t>
            </a:r>
          </a:p>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ESP32 processes the image and stores it temporarily in PSRAM/Flash memory.</a:t>
            </a:r>
          </a:p>
          <a:p>
            <a:pPr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Data can be transmitted wirelessly via Wi-Fi or used for display/processing applications.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43" name="Footer Placeholder 1"/>
          <p:cNvSpPr>
            <a:spLocks noGrp="1"/>
          </p:cNvSpPr>
          <p:nvPr>
            <p:ph type="ftr" sz="quarter" idx="11"/>
          </p:nvPr>
        </p:nvSpPr>
        <p:spPr/>
        <p:txBody>
          <a:bodyPr/>
          <a:p>
            <a:r>
              <a:rPr lang="en-US" smtClean="0"/>
              <a:t>DAYANANDA SAGAR COLLEGE OF ENGINEERING</a:t>
            </a:r>
            <a:endParaRPr lang="en-IN"/>
          </a:p>
        </p:txBody>
      </p:sp>
      <p:sp>
        <p:nvSpPr>
          <p:cNvPr id="1048644" name="Slide Number Placeholder 2"/>
          <p:cNvSpPr>
            <a:spLocks noGrp="1"/>
          </p:cNvSpPr>
          <p:nvPr>
            <p:ph type="sldNum" sz="quarter" idx="12"/>
          </p:nvPr>
        </p:nvSpPr>
        <p:spPr/>
        <p:txBody>
          <a:bodyPr/>
          <a:p>
            <a:fld id="{46A87611-411F-4010-8D8B-06BA0FB9B814}" type="slidenum">
              <a:rPr lang="en-IN" smtClean="0"/>
              <a:t>14</a:t>
            </a:fld>
            <a:endParaRPr lang="en-IN"/>
          </a:p>
        </p:txBody>
      </p:sp>
      <p:pic>
        <p:nvPicPr>
          <p:cNvPr id="2097161" name="Picture 3"/>
          <p:cNvPicPr>
            <a:picLocks noChangeAspect="1"/>
          </p:cNvPicPr>
          <p:nvPr/>
        </p:nvPicPr>
        <p:blipFill>
          <a:blip xmlns:r="http://schemas.openxmlformats.org/officeDocument/2006/relationships" r:embed="rId1"/>
          <a:stretch>
            <a:fillRect/>
          </a:stretch>
        </p:blipFill>
        <p:spPr>
          <a:xfrm>
            <a:off x="1947718" y="964045"/>
            <a:ext cx="8034482" cy="5392305"/>
          </a:xfrm>
          <a:prstGeom prst="rect"/>
        </p:spPr>
      </p:pic>
      <p:sp>
        <p:nvSpPr>
          <p:cNvPr id="1048645" name="TextBox 4"/>
          <p:cNvSpPr txBox="1"/>
          <p:nvPr/>
        </p:nvSpPr>
        <p:spPr>
          <a:xfrm>
            <a:off x="4996872" y="0"/>
            <a:ext cx="6356928" cy="707886"/>
          </a:xfrm>
          <a:prstGeom prst="rect"/>
          <a:noFill/>
        </p:spPr>
        <p:txBody>
          <a:bodyPr rtlCol="0" wrap="square">
            <a:spAutoFit/>
          </a:bodyPr>
          <a:p>
            <a:r>
              <a:rPr dirty="0" sz="4000" lang="en-US" smtClean="0">
                <a:solidFill>
                  <a:srgbClr val="FFFF00"/>
                </a:solidFill>
                <a:latin typeface="Times New Roman" panose="02020603050405020304" pitchFamily="18" charset="0"/>
                <a:cs typeface="Times New Roman" panose="02020603050405020304" pitchFamily="18" charset="0"/>
              </a:rPr>
              <a:t>Impact of cyber security</a:t>
            </a:r>
            <a:endParaRPr dirty="0" sz="4000" lang="en-IN">
              <a:solidFill>
                <a:srgbClr val="FFFF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46" name="Rectangle 3"/>
          <p:cNvSpPr/>
          <p:nvPr/>
        </p:nvSpPr>
        <p:spPr>
          <a:xfrm>
            <a:off x="4226559" y="41133"/>
            <a:ext cx="7965441" cy="461665"/>
          </a:xfrm>
          <a:prstGeom prst="rect"/>
        </p:spPr>
        <p:txBody>
          <a:bodyPr wrap="square">
            <a:spAutoFit/>
          </a:bodyPr>
          <a:p>
            <a:pPr algn="ctr"/>
            <a:r>
              <a:rPr dirty="0" sz="2400" lang="en-US">
                <a:solidFill>
                  <a:srgbClr val="FFFF00"/>
                </a:solidFill>
              </a:rPr>
              <a:t>Identification of Relevant SDG (Sustainable Development Goal)</a:t>
            </a:r>
            <a:endParaRPr b="1" dirty="0" sz="2400" lang="en-US">
              <a:solidFill>
                <a:srgbClr val="FFFF00"/>
              </a:solidFill>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endParaRPr>
          </a:p>
        </p:txBody>
      </p:sp>
      <p:sp>
        <p:nvSpPr>
          <p:cNvPr id="1048647" name="Footer Placeholder 1"/>
          <p:cNvSpPr txBox="1"/>
          <p:nvPr/>
        </p:nvSpPr>
        <p:spPr>
          <a:xfrm>
            <a:off x="4038600" y="6585285"/>
            <a:ext cx="4114800" cy="365125"/>
          </a:xfrm>
          <a:prstGeom prst="rect"/>
        </p:spPr>
        <p:txBody>
          <a:bodyPr anchor="ctr" bIns="45720" lIns="91440" rIns="91440" rtlCol="0" tIns="45720" vert="horz"/>
          <a:lstStyle>
            <a:defPPr>
              <a:defRPr lang="en-US"/>
            </a:defPPr>
            <a:lvl1pPr algn="ct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r>
              <a:rPr b="1" lang="en-US">
                <a:solidFill>
                  <a:schemeClr val="tx1"/>
                </a:solidFill>
                <a:latin typeface="Times New Roman" panose="02020603050405020304" pitchFamily="18" charset="0"/>
                <a:cs typeface="Times New Roman" panose="02020603050405020304" pitchFamily="18" charset="0"/>
              </a:rPr>
              <a:t>DAYANANDA SAGAR COLLEGE OF ENGINEERING</a:t>
            </a:r>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48" name="Slide Number Placeholder 2"/>
          <p:cNvSpPr txBox="1"/>
          <p:nvPr/>
        </p:nvSpPr>
        <p:spPr>
          <a:xfrm>
            <a:off x="8610600" y="6573497"/>
            <a:ext cx="2743200" cy="365125"/>
          </a:xfrm>
          <a:prstGeom prst="rect"/>
        </p:spPr>
        <p:txBody>
          <a:bodyPr anchor="ctr" bIns="45720" lIns="91440" rIns="91440" rtlCol="0" tIns="45720" vert="horz"/>
          <a:lstStyle>
            <a:defPPr>
              <a:defRPr lang="en-US"/>
            </a:defPPr>
            <a:lvl1pPr algn="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fld id="{46A87611-411F-4010-8D8B-06BA0FB9B814}" type="slidenum">
              <a:rPr b="1" lang="en-IN" smtClean="0">
                <a:solidFill>
                  <a:schemeClr val="tx1"/>
                </a:solidFill>
                <a:latin typeface="Times New Roman" panose="02020603050405020304" pitchFamily="18" charset="0"/>
                <a:cs typeface="Times New Roman" panose="02020603050405020304" pitchFamily="18" charset="0"/>
              </a:rPr>
              <a:t>15</a:t>
            </a:fld>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49" name="Content Placeholder 1"/>
          <p:cNvSpPr txBox="1"/>
          <p:nvPr/>
        </p:nvSpPr>
        <p:spPr>
          <a:xfrm>
            <a:off x="201295" y="1282885"/>
            <a:ext cx="11152505" cy="4956977"/>
          </a:xfrm>
          <a:prstGeom prst="rect"/>
        </p:spPr>
        <p:txBody>
          <a:bodyPr bIns="45720" lIns="91440" rIns="91440" rtlCol="0" tIns="45720" vert="horz">
            <a:normAutofit/>
          </a:bodyPr>
          <a:lstStyle>
            <a:lvl1pPr algn="ctr" defTabSz="914400" eaLnBrk="1" hangingPunct="1" indent="0" latinLnBrk="0" marL="0" rtl="0">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algn="ctr" defTabSz="914400" eaLnBrk="1" hangingPunct="1" indent="0" latinLnBrk="0" marL="457200" rtl="0">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algn="ctr" defTabSz="914400" eaLnBrk="1" hangingPunct="1" indent="0" latinLnBrk="0" marL="914400" rtl="0">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algn="ctr" defTabSz="914400" eaLnBrk="1" hangingPunct="1" indent="0" latinLnBrk="0" marL="1371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algn="ctr" defTabSz="914400" eaLnBrk="1" hangingPunct="1" indent="0" latinLnBrk="0" marL="18288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algn="ctr" defTabSz="914400" eaLnBrk="1" hangingPunct="1" indent="0" latinLnBrk="0" marL="22860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algn="ctr" defTabSz="914400" eaLnBrk="1" hangingPunct="1" indent="0" latinLnBrk="0" marL="27432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algn="ctr" defTabSz="914400" eaLnBrk="1" hangingPunct="1" indent="0" latinLnBrk="0" marL="32004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algn="ctr" defTabSz="914400" eaLnBrk="1" hangingPunct="1" indent="0" latinLnBrk="0" marL="3657600" rtl="0">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indent="-342900" marL="342900">
              <a:lnSpc>
                <a:spcPct val="15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SDG 9 </a:t>
            </a:r>
            <a:r>
              <a:rPr altLang="en-US" dirty="0" lang="en-IN">
                <a:latin typeface="Times New Roman" panose="02020603050405020304" pitchFamily="18" charset="0"/>
                <a:cs typeface="Times New Roman" panose="02020603050405020304" pitchFamily="18" charset="0"/>
              </a:rPr>
              <a:t>-</a:t>
            </a:r>
            <a:r>
              <a:rPr altLang="en-US" dirty="0" lang="en-US">
                <a:latin typeface="Times New Roman" panose="02020603050405020304" pitchFamily="18" charset="0"/>
                <a:cs typeface="Times New Roman" panose="02020603050405020304" pitchFamily="18" charset="0"/>
              </a:rPr>
              <a:t> Industry, Innovation and Infrastructure</a:t>
            </a:r>
          </a:p>
          <a:p>
            <a:pPr algn="just" lvl="1">
              <a:lnSpc>
                <a:spcPct val="150000"/>
              </a:lnSpc>
            </a:pPr>
            <a:r>
              <a:rPr dirty="0" sz="2400" lang="en-US">
                <a:latin typeface="Times New Roman" panose="02020603050405020304" pitchFamily="18" charset="0"/>
                <a:cs typeface="Times New Roman" panose="02020603050405020304" pitchFamily="18" charset="0"/>
              </a:rPr>
              <a:t>Promotes innovation by developing an IOT-based smart security solution that enhances technological infrastructure and supports modern digital systems.</a:t>
            </a:r>
            <a:endParaRPr altLang="en-US" dirty="0" sz="2400" lang="en-US">
              <a:latin typeface="Times New Roman" panose="02020603050405020304" pitchFamily="18" charset="0"/>
              <a:cs typeface="Times New Roman" panose="02020603050405020304" pitchFamily="18" charset="0"/>
            </a:endParaRPr>
          </a:p>
          <a:p>
            <a:pPr algn="just" indent="-342900" marL="342900">
              <a:lnSpc>
                <a:spcPct val="15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SDG </a:t>
            </a:r>
            <a:r>
              <a:rPr dirty="0" lang="en-US">
                <a:latin typeface="Times New Roman" panose="02020603050405020304" pitchFamily="18" charset="0"/>
                <a:cs typeface="Times New Roman" panose="02020603050405020304" pitchFamily="18" charset="0"/>
              </a:rPr>
              <a:t>11 - Sustainable Cities and Communities</a:t>
            </a:r>
            <a:endParaRPr altLang="en-US" dirty="0" lang="en-US">
              <a:latin typeface="Times New Roman" panose="02020603050405020304" pitchFamily="18" charset="0"/>
              <a:cs typeface="Times New Roman" panose="02020603050405020304" pitchFamily="18" charset="0"/>
            </a:endParaRPr>
          </a:p>
          <a:p>
            <a:pPr algn="just" lvl="1">
              <a:lnSpc>
                <a:spcPct val="150000"/>
              </a:lnSpc>
            </a:pPr>
            <a:r>
              <a:rPr dirty="0" sz="2400" lang="en-US">
                <a:latin typeface="Times New Roman" panose="02020603050405020304" pitchFamily="18" charset="0"/>
                <a:cs typeface="Times New Roman" panose="02020603050405020304" pitchFamily="18" charset="0"/>
              </a:rPr>
              <a:t>Improves safety and security in homes and buildings.</a:t>
            </a:r>
          </a:p>
        </p:txBody>
      </p:sp>
      <p:pic>
        <p:nvPicPr>
          <p:cNvPr id="2097162" name="Picture 2"/>
          <p:cNvPicPr>
            <a:picLocks noChangeAspect="1"/>
          </p:cNvPicPr>
          <p:nvPr/>
        </p:nvPicPr>
        <p:blipFill>
          <a:blip xmlns:r="http://schemas.openxmlformats.org/officeDocument/2006/relationships" r:embed="rId1"/>
          <a:stretch>
            <a:fillRect/>
          </a:stretch>
        </p:blipFill>
        <p:spPr>
          <a:xfrm>
            <a:off x="10383955" y="836433"/>
            <a:ext cx="1266011" cy="1168813"/>
          </a:xfrm>
          <a:prstGeom prst="rect"/>
        </p:spPr>
      </p:pic>
      <p:pic>
        <p:nvPicPr>
          <p:cNvPr id="2097163" name="Picture 6"/>
          <p:cNvPicPr>
            <a:picLocks noChangeAspect="1"/>
          </p:cNvPicPr>
          <p:nvPr/>
        </p:nvPicPr>
        <p:blipFill>
          <a:blip xmlns:r="http://schemas.openxmlformats.org/officeDocument/2006/relationships" r:embed="rId2"/>
          <a:stretch>
            <a:fillRect/>
          </a:stretch>
        </p:blipFill>
        <p:spPr>
          <a:xfrm>
            <a:off x="10412901" y="2517993"/>
            <a:ext cx="1243380" cy="1243380"/>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50" name="Footer Placeholder 1"/>
          <p:cNvSpPr>
            <a:spLocks noGrp="1"/>
          </p:cNvSpPr>
          <p:nvPr>
            <p:ph type="ftr" sz="quarter" idx="11"/>
          </p:nvPr>
        </p:nvSpPr>
        <p:spPr/>
        <p:txBody>
          <a:bodyPr/>
          <a:p>
            <a:r>
              <a:rPr lang="en-US" smtClean="0"/>
              <a:t>DAYANANDA SAGAR COLLEGE OF ENGINEERING</a:t>
            </a:r>
            <a:endParaRPr lang="en-IN"/>
          </a:p>
        </p:txBody>
      </p:sp>
      <p:sp>
        <p:nvSpPr>
          <p:cNvPr id="1048651" name="Slide Number Placeholder 2"/>
          <p:cNvSpPr>
            <a:spLocks noGrp="1"/>
          </p:cNvSpPr>
          <p:nvPr>
            <p:ph type="sldNum" sz="quarter" idx="12"/>
          </p:nvPr>
        </p:nvSpPr>
        <p:spPr/>
        <p:txBody>
          <a:bodyPr/>
          <a:p>
            <a:fld id="{46A87611-411F-4010-8D8B-06BA0FB9B814}" type="slidenum">
              <a:rPr lang="en-IN" smtClean="0"/>
              <a:t>16</a:t>
            </a:fld>
            <a:endParaRPr lang="en-IN"/>
          </a:p>
        </p:txBody>
      </p:sp>
      <p:sp>
        <p:nvSpPr>
          <p:cNvPr id="1048652" name="TextBox 3"/>
          <p:cNvSpPr txBox="1"/>
          <p:nvPr/>
        </p:nvSpPr>
        <p:spPr>
          <a:xfrm>
            <a:off x="4839855" y="0"/>
            <a:ext cx="5698836" cy="707886"/>
          </a:xfrm>
          <a:prstGeom prst="rect"/>
          <a:noFill/>
        </p:spPr>
        <p:txBody>
          <a:bodyPr rtlCol="0" wrap="square">
            <a:spAutoFit/>
          </a:bodyPr>
          <a:p>
            <a:r>
              <a:rPr dirty="0" sz="4000" lang="en-US" smtClean="0">
                <a:solidFill>
                  <a:srgbClr val="FFFF00"/>
                </a:solidFill>
                <a:latin typeface="Times New Roman" panose="02020603050405020304" pitchFamily="18" charset="0"/>
                <a:cs typeface="Times New Roman" panose="02020603050405020304" pitchFamily="18" charset="0"/>
              </a:rPr>
              <a:t>Conclusion</a:t>
            </a:r>
            <a:endParaRPr dirty="0" sz="4000" lang="en-IN">
              <a:solidFill>
                <a:srgbClr val="FFFF00"/>
              </a:solidFill>
              <a:latin typeface="Times New Roman" panose="02020603050405020304" pitchFamily="18" charset="0"/>
              <a:cs typeface="Times New Roman" panose="02020603050405020304" pitchFamily="18" charset="0"/>
            </a:endParaRPr>
          </a:p>
        </p:txBody>
      </p:sp>
      <p:sp>
        <p:nvSpPr>
          <p:cNvPr id="1048653" name="Rectangle 4"/>
          <p:cNvSpPr/>
          <p:nvPr/>
        </p:nvSpPr>
        <p:spPr>
          <a:xfrm>
            <a:off x="420255" y="1295876"/>
            <a:ext cx="8839200" cy="3785652"/>
          </a:xfrm>
          <a:prstGeom prst="rect"/>
        </p:spPr>
        <p:txBody>
          <a:bodyPr wrap="square">
            <a:spAutoFit/>
          </a:bodyPr>
          <a:p>
            <a:pPr algn="just"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Using this system, we can reduce cyber threats by enabling secure communication and controlled access.</a:t>
            </a:r>
          </a:p>
          <a:p>
            <a:pPr algn="just"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It helps in building a smart home environment with advanced security features.</a:t>
            </a:r>
          </a:p>
          <a:p>
            <a:pPr algn="just"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The system ensures safe and monitored entry through real-time alerts and image capture.</a:t>
            </a:r>
          </a:p>
          <a:p>
            <a:pPr algn="just"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It allows the owner to control access remotely, improving convenience and safety.</a:t>
            </a:r>
          </a:p>
          <a:p>
            <a:pPr algn="just" indent="-342900" marL="342900">
              <a:lnSpc>
                <a:spcPct val="150000"/>
              </a:lnSpc>
              <a:buFont typeface="Arial" panose="020B0604020202020204" pitchFamily="34" charset="0"/>
              <a:buChar char="•"/>
            </a:pPr>
            <a:r>
              <a:rPr dirty="0" sz="2000" lang="en-IN">
                <a:latin typeface="Times New Roman" panose="02020603050405020304" pitchFamily="18" charset="0"/>
                <a:cs typeface="Times New Roman" panose="02020603050405020304" pitchFamily="18" charset="0"/>
              </a:rPr>
              <a:t>Overall, it provides a secure, intelligent, and reliable solution for modern security needs.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54" name="Footer Placeholder 1"/>
          <p:cNvSpPr>
            <a:spLocks noGrp="1"/>
          </p:cNvSpPr>
          <p:nvPr>
            <p:ph type="ftr" sz="quarter" idx="11"/>
          </p:nvPr>
        </p:nvSpPr>
        <p:spPr/>
        <p:txBody>
          <a:bodyPr/>
          <a:p>
            <a:r>
              <a:rPr lang="en-US"/>
              <a:t>DAYANANDA SAGAR COLLEGE OF ENGINEERING</a:t>
            </a:r>
            <a:endParaRPr lang="en-IN"/>
          </a:p>
        </p:txBody>
      </p:sp>
      <p:sp>
        <p:nvSpPr>
          <p:cNvPr id="1048655" name="Slide Number Placeholder 2"/>
          <p:cNvSpPr>
            <a:spLocks noGrp="1"/>
          </p:cNvSpPr>
          <p:nvPr>
            <p:ph type="sldNum" sz="quarter" idx="12"/>
          </p:nvPr>
        </p:nvSpPr>
        <p:spPr/>
        <p:txBody>
          <a:bodyPr/>
          <a:p>
            <a:fld id="{46A87611-411F-4010-8D8B-06BA0FB9B814}" type="slidenum">
              <a:rPr lang="en-IN" smtClean="0"/>
              <a:t>17</a:t>
            </a:fld>
            <a:endParaRPr lang="en-IN"/>
          </a:p>
        </p:txBody>
      </p:sp>
      <p:sp>
        <p:nvSpPr>
          <p:cNvPr id="1048656" name="TextBox 3"/>
          <p:cNvSpPr txBox="1"/>
          <p:nvPr/>
        </p:nvSpPr>
        <p:spPr>
          <a:xfrm>
            <a:off x="6086764" y="0"/>
            <a:ext cx="5892799" cy="707886"/>
          </a:xfrm>
          <a:prstGeom prst="rect"/>
          <a:noFill/>
        </p:spPr>
        <p:txBody>
          <a:bodyPr rtlCol="0" wrap="square">
            <a:spAutoFit/>
          </a:bodyPr>
          <a:p>
            <a:r>
              <a:rPr b="1" dirty="0" sz="4000" lang="en-US">
                <a:solidFill>
                  <a:srgbClr val="F1E275"/>
                </a:solidFill>
                <a:latin typeface="Times New Roman" panose="02020603050405020304" pitchFamily="18" charset="0"/>
                <a:cs typeface="Times New Roman" panose="02020603050405020304" pitchFamily="18" charset="0"/>
              </a:rPr>
              <a:t>References</a:t>
            </a:r>
            <a:endParaRPr dirty="0" sz="4000" lang="en-IN">
              <a:latin typeface="Times New Roman" panose="02020603050405020304" pitchFamily="18" charset="0"/>
              <a:cs typeface="Times New Roman" panose="02020603050405020304" pitchFamily="18" charset="0"/>
            </a:endParaRPr>
          </a:p>
        </p:txBody>
      </p:sp>
      <p:sp>
        <p:nvSpPr>
          <p:cNvPr id="1048657" name="TextBox 5"/>
          <p:cNvSpPr txBox="1"/>
          <p:nvPr/>
        </p:nvSpPr>
        <p:spPr>
          <a:xfrm>
            <a:off x="565728" y="1052945"/>
            <a:ext cx="10788072" cy="5632311"/>
          </a:xfrm>
          <a:prstGeom prst="rect"/>
          <a:noFill/>
        </p:spPr>
        <p:txBody>
          <a:bodyPr rtlCol="0" wrap="square">
            <a:spAutoFit/>
          </a:bodyPr>
          <a:p>
            <a:pPr indent="-285750" marL="285750">
              <a:lnSpc>
                <a:spcPct val="150000"/>
              </a:lnSpc>
              <a:buFont typeface="Arial" panose="020B0604020202020204" pitchFamily="34" charset="0"/>
              <a:buChar char="•"/>
            </a:pPr>
            <a:r>
              <a:rPr dirty="0" sz="2400" lang="fi-FI">
                <a:latin typeface="Times New Roman" panose="02020603050405020304" pitchFamily="18" charset="0"/>
                <a:cs typeface="Times New Roman" panose="02020603050405020304" pitchFamily="18" charset="0"/>
              </a:rPr>
              <a:t>Malti Bansal,Navodit Adarsh, Nitin Kumar, Monika Meena. </a:t>
            </a:r>
            <a:r>
              <a:rPr dirty="0" sz="2400" lang="en-IN">
                <a:latin typeface="Times New Roman" panose="02020603050405020304" pitchFamily="18" charset="0"/>
                <a:cs typeface="Times New Roman" panose="02020603050405020304" pitchFamily="18" charset="0"/>
              </a:rPr>
              <a:t>“</a:t>
            </a:r>
            <a:r>
              <a:rPr dirty="0" sz="2400" lang="en-US">
                <a:latin typeface="Times New Roman" panose="02020603050405020304" pitchFamily="18" charset="0"/>
                <a:cs typeface="Times New Roman" panose="02020603050405020304" pitchFamily="18" charset="0"/>
              </a:rPr>
              <a:t>Smart IoT based Integrated Home Security System” Delhi technological university-</a:t>
            </a:r>
            <a:r>
              <a:rPr dirty="0" sz="2400" lang="fi-FI">
                <a:latin typeface="Times New Roman" panose="02020603050405020304" pitchFamily="18" charset="0"/>
                <a:cs typeface="Times New Roman" panose="02020603050405020304" pitchFamily="18" charset="0"/>
              </a:rPr>
              <a:t> 2020</a:t>
            </a:r>
            <a:endParaRPr dirty="0" sz="2400" lang="en-US">
              <a:latin typeface="Times New Roman" panose="02020603050405020304" pitchFamily="18" charset="0"/>
              <a:cs typeface="Times New Roman" panose="02020603050405020304" pitchFamily="18" charset="0"/>
            </a:endParaRPr>
          </a:p>
          <a:p>
            <a:pPr indent="-285750" marL="285750">
              <a:lnSpc>
                <a:spcPct val="150000"/>
              </a:lnSpc>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rPr>
              <a:t>Pavan Kumar </a:t>
            </a:r>
            <a:r>
              <a:rPr dirty="0" sz="2400" lang="en-IN" err="1">
                <a:latin typeface="Times New Roman" panose="02020603050405020304" pitchFamily="18" charset="0"/>
                <a:cs typeface="Times New Roman" panose="02020603050405020304" pitchFamily="18" charset="0"/>
              </a:rPr>
              <a:t>Sattaru,Rajasree</a:t>
            </a:r>
            <a:r>
              <a:rPr dirty="0" sz="2400" lang="en-IN">
                <a:latin typeface="Times New Roman" panose="02020603050405020304" pitchFamily="18" charset="0"/>
                <a:cs typeface="Times New Roman" panose="02020603050405020304" pitchFamily="18" charset="0"/>
              </a:rPr>
              <a:t> </a:t>
            </a:r>
            <a:r>
              <a:rPr dirty="0" sz="2400" lang="en-IN" err="1">
                <a:latin typeface="Times New Roman" panose="02020603050405020304" pitchFamily="18" charset="0"/>
                <a:cs typeface="Times New Roman" panose="02020603050405020304" pitchFamily="18" charset="0"/>
              </a:rPr>
              <a:t>Channagiri</a:t>
            </a:r>
            <a:r>
              <a:rPr dirty="0" sz="2400" lang="en-IN">
                <a:latin typeface="Times New Roman" panose="02020603050405020304" pitchFamily="18" charset="0"/>
                <a:cs typeface="Times New Roman" panose="02020603050405020304" pitchFamily="18" charset="0"/>
              </a:rPr>
              <a:t>, Khasim vali </a:t>
            </a:r>
            <a:r>
              <a:rPr dirty="0" sz="2400" lang="en-IN" err="1">
                <a:latin typeface="Times New Roman" panose="02020603050405020304" pitchFamily="18" charset="0"/>
                <a:cs typeface="Times New Roman" panose="02020603050405020304" pitchFamily="18" charset="0"/>
              </a:rPr>
              <a:t>Burugula</a:t>
            </a:r>
            <a:r>
              <a:rPr dirty="0" sz="2400" lang="en-IN">
                <a:latin typeface="Times New Roman" panose="02020603050405020304" pitchFamily="18" charset="0"/>
                <a:cs typeface="Times New Roman" panose="02020603050405020304" pitchFamily="18" charset="0"/>
              </a:rPr>
              <a:t>. “</a:t>
            </a:r>
            <a:r>
              <a:rPr dirty="0" sz="2400" lang="en-US">
                <a:latin typeface="Times New Roman" panose="02020603050405020304" pitchFamily="18" charset="0"/>
                <a:cs typeface="Times New Roman" panose="02020603050405020304" pitchFamily="18" charset="0"/>
              </a:rPr>
              <a:t>Smart Home Security System using </a:t>
            </a:r>
            <a:r>
              <a:rPr dirty="0" sz="2400" lang="en-US" err="1">
                <a:latin typeface="Times New Roman" panose="02020603050405020304" pitchFamily="18" charset="0"/>
                <a:cs typeface="Times New Roman" panose="02020603050405020304" pitchFamily="18" charset="0"/>
              </a:rPr>
              <a:t>IoT</a:t>
            </a:r>
            <a:r>
              <a:rPr dirty="0" sz="2400" lang="en-US">
                <a:latin typeface="Times New Roman" panose="02020603050405020304" pitchFamily="18" charset="0"/>
                <a:cs typeface="Times New Roman" panose="02020603050405020304" pitchFamily="18" charset="0"/>
              </a:rPr>
              <a:t> and ESP8266</a:t>
            </a:r>
            <a:r>
              <a:rPr dirty="0" sz="2400" lang="en-IN">
                <a:latin typeface="Times New Roman" panose="02020603050405020304" pitchFamily="18" charset="0"/>
                <a:cs typeface="Times New Roman" panose="02020603050405020304" pitchFamily="18" charset="0"/>
              </a:rPr>
              <a:t>”.</a:t>
            </a:r>
            <a:r>
              <a:rPr dirty="0" sz="2400" lang="en-US">
                <a:latin typeface="Times New Roman" panose="02020603050405020304" pitchFamily="18" charset="0"/>
                <a:cs typeface="Times New Roman" panose="02020603050405020304" pitchFamily="18" charset="0"/>
              </a:rPr>
              <a:t> 5th International Conference on Smart Systems and Inventive Technology-2023</a:t>
            </a:r>
          </a:p>
          <a:p>
            <a:pPr indent="-285750" marL="285750">
              <a:lnSpc>
                <a:spcPct val="150000"/>
              </a:lnSpc>
              <a:buFont typeface="Arial" panose="020B0604020202020204" pitchFamily="34" charset="0"/>
              <a:buChar char="•"/>
            </a:pPr>
            <a:r>
              <a:rPr dirty="0" sz="2400" lang="en-IN">
                <a:latin typeface="Times New Roman" panose="02020603050405020304" pitchFamily="18" charset="0"/>
                <a:cs typeface="Times New Roman" panose="02020603050405020304" pitchFamily="18" charset="0"/>
              </a:rPr>
              <a:t>Ishwari </a:t>
            </a:r>
            <a:r>
              <a:rPr dirty="0" sz="2400" lang="en-IN" err="1">
                <a:latin typeface="Times New Roman" panose="02020603050405020304" pitchFamily="18" charset="0"/>
                <a:cs typeface="Times New Roman" panose="02020603050405020304" pitchFamily="18" charset="0"/>
              </a:rPr>
              <a:t>Kakade,Renuka</a:t>
            </a:r>
            <a:r>
              <a:rPr dirty="0" sz="2400" lang="en-IN">
                <a:latin typeface="Times New Roman" panose="02020603050405020304" pitchFamily="18" charset="0"/>
                <a:cs typeface="Times New Roman" panose="02020603050405020304" pitchFamily="18" charset="0"/>
              </a:rPr>
              <a:t> Wadetwar, Kritika </a:t>
            </a:r>
            <a:r>
              <a:rPr dirty="0" sz="2400" lang="en-IN" err="1">
                <a:latin typeface="Times New Roman" panose="02020603050405020304" pitchFamily="18" charset="0"/>
                <a:cs typeface="Times New Roman" panose="02020603050405020304" pitchFamily="18" charset="0"/>
              </a:rPr>
              <a:t>Ni,mje</a:t>
            </a:r>
            <a:r>
              <a:rPr dirty="0" sz="2400" lang="en-IN">
                <a:latin typeface="Times New Roman" panose="02020603050405020304" pitchFamily="18" charset="0"/>
                <a:cs typeface="Times New Roman" panose="02020603050405020304" pitchFamily="18" charset="0"/>
              </a:rPr>
              <a:t>. “IoT-Integrated Door Sensor Solution for Enhancing Smart Home Security”. Indian institute of Information technology-2024</a:t>
            </a:r>
          </a:p>
          <a:p>
            <a:pPr>
              <a:lnSpc>
                <a:spcPct val="150000"/>
              </a:lnSpc>
            </a:pPr>
            <a:r>
              <a:rPr dirty="0" sz="2400" lang="en-IN">
                <a:latin typeface="Times New Roman" panose="02020603050405020304" pitchFamily="18" charset="0"/>
                <a:cs typeface="Times New Roman" panose="02020603050405020304" pitchFamily="18" charset="0"/>
              </a:rPr>
              <a:t/>
            </a:r>
            <a:br>
              <a:rPr dirty="0" sz="2400" lang="en-IN">
                <a:latin typeface="Times New Roman" panose="02020603050405020304" pitchFamily="18" charset="0"/>
                <a:cs typeface="Times New Roman" panose="02020603050405020304" pitchFamily="18" charset="0"/>
              </a:rPr>
            </a:br>
            <a:r>
              <a:rPr dirty="0" sz="2400" lang="en-IN">
                <a:latin typeface="Times New Roman" panose="02020603050405020304" pitchFamily="18" charset="0"/>
                <a:cs typeface="Times New Roman" panose="02020603050405020304" pitchFamily="18" charset="0"/>
              </a:rPr>
              <a:t> </a:t>
            </a:r>
            <a:endParaRPr dirty="0" sz="2400"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58" name="Footer Placeholder 1"/>
          <p:cNvSpPr txBox="1"/>
          <p:nvPr/>
        </p:nvSpPr>
        <p:spPr>
          <a:xfrm>
            <a:off x="4038600" y="6585285"/>
            <a:ext cx="4114800" cy="365125"/>
          </a:xfrm>
          <a:prstGeom prst="rect"/>
        </p:spPr>
        <p:txBody>
          <a:bodyPr anchor="ctr" bIns="45720" lIns="91440" rIns="91440" rtlCol="0" tIns="45720" vert="horz"/>
          <a:lstStyle>
            <a:defPPr>
              <a:defRPr lang="en-US"/>
            </a:defPPr>
            <a:lvl1pPr algn="ct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r>
              <a:rPr b="1" lang="en-US">
                <a:solidFill>
                  <a:schemeClr val="tx1"/>
                </a:solidFill>
                <a:latin typeface="Times New Roman" panose="02020603050405020304" pitchFamily="18" charset="0"/>
                <a:cs typeface="Times New Roman" panose="02020603050405020304" pitchFamily="18" charset="0"/>
              </a:rPr>
              <a:t>DAYANANDA SAGAR COLLEGE OF ENGINEERING</a:t>
            </a:r>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59" name="Slide Number Placeholder 2"/>
          <p:cNvSpPr txBox="1"/>
          <p:nvPr/>
        </p:nvSpPr>
        <p:spPr>
          <a:xfrm>
            <a:off x="8610600" y="6573497"/>
            <a:ext cx="2743200" cy="365125"/>
          </a:xfrm>
          <a:prstGeom prst="rect"/>
        </p:spPr>
        <p:txBody>
          <a:bodyPr anchor="ctr" bIns="45720" lIns="91440" rIns="91440" rtlCol="0" tIns="45720" vert="horz"/>
          <a:lstStyle>
            <a:defPPr>
              <a:defRPr lang="en-US"/>
            </a:defPPr>
            <a:lvl1pPr algn="r" defTabSz="914400" eaLnBrk="1" hangingPunct="1" latinLnBrk="0" marL="0" rtl="0">
              <a:defRPr sz="1200" kern="1200">
                <a:solidFill>
                  <a:schemeClr val="tx1">
                    <a:tint val="75000"/>
                  </a:schemeClr>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fld id="{46A87611-411F-4010-8D8B-06BA0FB9B814}" type="slidenum">
              <a:rPr b="1" lang="en-IN" smtClean="0">
                <a:solidFill>
                  <a:schemeClr val="tx1"/>
                </a:solidFill>
                <a:latin typeface="Times New Roman" panose="02020603050405020304" pitchFamily="18" charset="0"/>
                <a:cs typeface="Times New Roman" panose="02020603050405020304" pitchFamily="18" charset="0"/>
              </a:rPr>
              <a:t>18</a:t>
            </a:fld>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60" name="Rectangle 1"/>
          <p:cNvSpPr/>
          <p:nvPr/>
        </p:nvSpPr>
        <p:spPr>
          <a:xfrm>
            <a:off x="1503680" y="3244334"/>
            <a:ext cx="9591039" cy="1015663"/>
          </a:xfrm>
          <a:prstGeom prst="rect"/>
        </p:spPr>
        <p:txBody>
          <a:bodyPr wrap="square">
            <a:spAutoFit/>
          </a:bodyPr>
          <a:p>
            <a:pPr algn="ctr"/>
            <a:r>
              <a:rPr dirty="0" sz="6000" lang="en-IN"/>
              <a:t>Any Questions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pic>
        <p:nvPicPr>
          <p:cNvPr id="2097164" name="Picture 3"/>
          <p:cNvPicPr>
            <a:picLocks noChangeAspect="1"/>
          </p:cNvPicPr>
          <p:nvPr/>
        </p:nvPicPr>
        <p:blipFill rotWithShape="1">
          <a:blip xmlns:r="http://schemas.openxmlformats.org/officeDocument/2006/relationships" r:embed="rId1" cstate="print"/>
          <a:srcRect t="11504" b="30595"/>
          <a:stretch>
            <a:fillRect/>
          </a:stretch>
        </p:blipFill>
        <p:spPr>
          <a:xfrm>
            <a:off x="499038" y="998461"/>
            <a:ext cx="11193924" cy="4861078"/>
          </a:xfrm>
          <a:prstGeom prst="rect"/>
        </p:spPr>
      </p:pic>
      <p:sp>
        <p:nvSpPr>
          <p:cNvPr id="1048661" name="Footer Placeholder 1"/>
          <p:cNvSpPr>
            <a:spLocks noGrp="1"/>
          </p:cNvSpPr>
          <p:nvPr>
            <p:ph type="ftr" sz="quarter" idx="11"/>
          </p:nvPr>
        </p:nvSpPr>
        <p:spPr>
          <a:xfrm>
            <a:off x="4038600" y="6585285"/>
            <a:ext cx="4114800" cy="365125"/>
          </a:xfrm>
        </p:spPr>
        <p:txBody>
          <a:bodyPr/>
          <a:p>
            <a:r>
              <a:rPr b="1" dirty="0" lang="en-US">
                <a:solidFill>
                  <a:schemeClr val="tx1"/>
                </a:solidFill>
                <a:latin typeface="Times New Roman" panose="02020603050405020304" pitchFamily="18" charset="0"/>
                <a:cs typeface="Times New Roman" panose="02020603050405020304" pitchFamily="18" charset="0"/>
              </a:rPr>
              <a:t>DAYANANDA SAGAR COLLEGE OF ENGINEERING</a:t>
            </a:r>
            <a:endParaRPr b="1" dirty="0" lang="en-IN">
              <a:solidFill>
                <a:schemeClr val="tx1"/>
              </a:solidFill>
              <a:latin typeface="Times New Roman" panose="02020603050405020304" pitchFamily="18" charset="0"/>
              <a:cs typeface="Times New Roman" panose="02020603050405020304" pitchFamily="18" charset="0"/>
            </a:endParaRPr>
          </a:p>
        </p:txBody>
      </p:sp>
      <p:sp>
        <p:nvSpPr>
          <p:cNvPr id="1048662" name="Slide Number Placeholder 2"/>
          <p:cNvSpPr>
            <a:spLocks noGrp="1"/>
          </p:cNvSpPr>
          <p:nvPr>
            <p:ph type="sldNum" sz="quarter" idx="12"/>
          </p:nvPr>
        </p:nvSpPr>
        <p:spPr>
          <a:xfrm>
            <a:off x="8610600" y="6573497"/>
            <a:ext cx="2743200" cy="365125"/>
          </a:xfrm>
        </p:spPr>
        <p:txBody>
          <a:bodyPr/>
          <a:p>
            <a:fld id="{46A87611-411F-4010-8D8B-06BA0FB9B814}" type="slidenum">
              <a:rPr b="1" lang="en-IN" smtClean="0">
                <a:solidFill>
                  <a:schemeClr val="tx1"/>
                </a:solidFill>
                <a:latin typeface="Times New Roman" panose="02020603050405020304" pitchFamily="18" charset="0"/>
                <a:cs typeface="Times New Roman" panose="02020603050405020304" pitchFamily="18" charset="0"/>
              </a:rPr>
              <a:t>19</a:t>
            </a:fld>
            <a:endParaRPr b="1" dirty="0" lang="en-IN">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DSCE-Principal</dc:creator>
  <cp:lastModifiedBy>Microsoft account</cp:lastModifiedBy>
  <dcterms:created xsi:type="dcterms:W3CDTF">2024-05-02T18:57:00Z</dcterms:created>
  <dcterms:modified xsi:type="dcterms:W3CDTF">2026-04-30T02:32:13Z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95858ebc0cf444d693972f7a4f05981a</vt:lpwstr>
  </property>
  <property fmtid="{D5CDD505-2E9C-101B-9397-08002B2CF9AE}" pid="3" name="KSOProductBuildVer">
    <vt:lpwstr>1033-12.2.0.23196</vt:lpwstr>
  </property>
</Properties>
</file>